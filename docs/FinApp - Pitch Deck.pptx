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-914400"/>
            <a:ext cx="3657600" cy="3657600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572000"/>
            <a:ext cx="3200400" cy="3200400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45720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5600" b="1">
                <a:solidFill>
                  <a:srgbClr val="10B981"/>
                </a:solidFill>
                <a:latin typeface="Segoe UI"/>
              </a:defRPr>
            </a:pPr>
            <a:r>
              <a:t>FinApp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6400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600" b="0">
                <a:solidFill>
                  <a:srgbClr val="FFFFFF"/>
                </a:solidFill>
                <a:latin typeface="Segoe UI"/>
              </a:defRPr>
            </a:pPr>
            <a:r>
              <a:t>Gestao financeira pessoal inteligente.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474720"/>
            <a:ext cx="73152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94A3B8"/>
                </a:solidFill>
                <a:latin typeface="Segoe UI"/>
              </a:defRPr>
            </a:pPr>
            <a:r>
              <a:t>Controle completo. Projecoes reais. Assistente com 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5303520"/>
            <a:ext cx="1371600" cy="381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577840"/>
            <a:ext cx="4572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4748B"/>
                </a:solidFill>
                <a:latin typeface="Segoe UI"/>
              </a:defRPr>
            </a:pPr>
            <a:r>
              <a:t>Fevereiro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O CENARIO ATUAL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0F172A"/>
                </a:solidFill>
                <a:latin typeface="Segoe UI"/>
              </a:defRPr>
            </a:pPr>
            <a:r>
              <a:t>Metade do Brasil esta no vermelho.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475569"/>
                </a:solidFill>
                <a:latin typeface="Segoe UI"/>
              </a:defRPr>
            </a:pPr>
            <a:r>
              <a:t>81,2 milhoes de brasileiros estao inadimplentes — recorde historico.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200400"/>
            <a:ext cx="32918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" y="3383280"/>
            <a:ext cx="548640" cy="508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611880"/>
            <a:ext cx="27432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800" b="1">
                <a:solidFill>
                  <a:srgbClr val="F43F5E"/>
                </a:solidFill>
                <a:latin typeface="Segoe UI"/>
              </a:defRPr>
            </a:pPr>
            <a:r>
              <a:t>48%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029200"/>
            <a:ext cx="27432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defRPr sz="1300" b="0">
                <a:solidFill>
                  <a:srgbClr val="475569"/>
                </a:solidFill>
                <a:latin typeface="Segoe UI"/>
              </a:defRPr>
            </a:pPr>
            <a:r>
              <a:t>dos brasileiros</a:t>
            </a:r>
            <a:br/>
            <a:r>
              <a:t>nao controlam o</a:t>
            </a:r>
            <a:br/>
            <a:r>
              <a:t>proprio orcamento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3200400"/>
            <a:ext cx="32918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0" y="3383280"/>
            <a:ext cx="54864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3611880"/>
            <a:ext cx="27432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000" b="1">
                <a:solidFill>
                  <a:srgbClr val="F59E0B"/>
                </a:solidFill>
                <a:latin typeface="Segoe UI"/>
              </a:defRPr>
            </a:pPr>
            <a:r>
              <a:t>R$ 518 bi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5029200"/>
            <a:ext cx="27432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defRPr sz="1300" b="0">
                <a:solidFill>
                  <a:srgbClr val="475569"/>
                </a:solidFill>
                <a:latin typeface="Segoe UI"/>
              </a:defRPr>
            </a:pPr>
            <a:r>
              <a:t>em dividas acumuladas</a:t>
            </a:r>
            <a:br/>
            <a:r>
              <a:t>pelos inadimplentes</a:t>
            </a:r>
            <a:br/>
            <a:r>
              <a:t>em dezembro de 2025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3200400"/>
            <a:ext cx="32918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503920" y="3383280"/>
            <a:ext cx="548640" cy="50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0" y="3611880"/>
            <a:ext cx="27432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800" b="1">
                <a:solidFill>
                  <a:srgbClr val="3B82F6"/>
                </a:solidFill>
                <a:latin typeface="Segoe UI"/>
              </a:defRPr>
            </a:pPr>
            <a:r>
              <a:t>77,5%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5029200"/>
            <a:ext cx="27432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defRPr sz="1300" b="0">
                <a:solidFill>
                  <a:srgbClr val="475569"/>
                </a:solidFill>
                <a:latin typeface="Segoe UI"/>
              </a:defRPr>
            </a:pPr>
            <a:r>
              <a:t>das familias</a:t>
            </a:r>
            <a:br/>
            <a:r>
              <a:t>brasileiras estao</a:t>
            </a:r>
            <a:br/>
            <a:r>
              <a:t>endividadas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21792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94A3B8"/>
                </a:solidFill>
                <a:latin typeface="Segoe UI"/>
              </a:defRPr>
            </a:pPr>
            <a:r>
              <a:t>Fontes: Serasa (Dez/2025), CNDL/SPC Brasil, CNC/Agencia Brasil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A RAIZ DO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91440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0F172A"/>
                </a:solidFill>
                <a:latin typeface="Segoe UI"/>
              </a:defRPr>
            </a:pPr>
            <a:r>
              <a:t>Por que as pessoas nao controlam suas financas?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286000"/>
            <a:ext cx="50292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51460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F43F5E"/>
                </a:solidFill>
                <a:latin typeface="Segoe UI"/>
              </a:defRPr>
            </a:pPr>
            <a:r>
              <a:t>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2487168"/>
            <a:ext cx="40233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Nao sabem como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880360"/>
            <a:ext cx="402336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700"/>
              </a:lnSpc>
              <a:defRPr sz="1200" b="0">
                <a:solidFill>
                  <a:srgbClr val="475569"/>
                </a:solidFill>
                <a:latin typeface="Segoe UI"/>
              </a:defRPr>
            </a:pPr>
            <a:r>
              <a:t>19% dos jovens dizem nao saber por onde comecar. Falta educacao financeira — 55% entendem pouco ou nada sobre o tema.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286000"/>
            <a:ext cx="50292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251460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F59E0B"/>
                </a:solidFill>
                <a:latin typeface="Segoe UI"/>
              </a:defRPr>
            </a:pPr>
            <a:r>
              <a:t>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2487168"/>
            <a:ext cx="40233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Falta de disciplina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2880360"/>
            <a:ext cx="402336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700"/>
              </a:lnSpc>
              <a:defRPr sz="1200" b="0">
                <a:solidFill>
                  <a:srgbClr val="475569"/>
                </a:solidFill>
                <a:latin typeface="Segoe UI"/>
              </a:defRPr>
            </a:pPr>
            <a:r>
              <a:t>Registrar gastos manualmente e tedioso. A maioria desiste em poucas semanas. 36% dos que tentam usam caderno de papel.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389120"/>
            <a:ext cx="50292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61772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3B82F6"/>
                </a:solidFill>
                <a:latin typeface="Segoe UI"/>
              </a:defRPr>
            </a:pPr>
            <a:r>
              <a:t>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4590288"/>
            <a:ext cx="40233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Ferramentas complexas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4983480"/>
            <a:ext cx="402336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700"/>
              </a:lnSpc>
              <a:defRPr sz="1200" b="0">
                <a:solidFill>
                  <a:srgbClr val="475569"/>
                </a:solidFill>
                <a:latin typeface="Segoe UI"/>
              </a:defRPr>
            </a:pPr>
            <a:r>
              <a:t>Apps com muitos menus, configuracoes confusas e funcionalidades fragmentadas. Investimentos num app, gastos em outro, projecoes numa planilha.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4389120"/>
            <a:ext cx="50292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461772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475569"/>
                </a:solidFill>
                <a:latin typeface="Segoe UI"/>
              </a:defRPr>
            </a:pPr>
            <a:r>
              <a:t>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86600" y="4590288"/>
            <a:ext cx="40233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Ferramentas caras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4983480"/>
            <a:ext cx="402336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700"/>
              </a:lnSpc>
              <a:defRPr sz="1200" b="0">
                <a:solidFill>
                  <a:srgbClr val="475569"/>
                </a:solidFill>
                <a:latin typeface="Segoe UI"/>
              </a:defRPr>
            </a:pPr>
            <a:r>
              <a:t>Organizze cobra R$ 35/mes so para controle manual. Mobills exige plano PRO para IA. Funcionalidades essenciais atras de paywall.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26364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94A3B8"/>
                </a:solidFill>
                <a:latin typeface="Segoe UI"/>
              </a:defRPr>
            </a:pPr>
            <a:r>
              <a:t>Fontes: CNDL/SPC Brasil, FEBRABAN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O MERCADO HOJE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058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0F172A"/>
                </a:solidFill>
                <a:latin typeface="Segoe UI"/>
              </a:defRPr>
            </a:pPr>
            <a:r>
              <a:t>As ferramentas existentes nao resolvem o problema completo.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64748B"/>
                </a:solidFill>
                <a:latin typeface="Segoe UI"/>
              </a:defRPr>
            </a:pPr>
            <a:r>
              <a:t>Cada uma ataca um pedaco — nenhuma oferece a visao integrada que o usuario precisa.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2514600" cy="29260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423160"/>
            <a:ext cx="2057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Mobills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108960"/>
            <a:ext cx="2057400" cy="12801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700"/>
              </a:lnSpc>
              <a:defRPr sz="1200" b="0">
                <a:solidFill>
                  <a:srgbClr val="475569"/>
                </a:solidFill>
                <a:latin typeface="Segoe UI"/>
              </a:defRPr>
            </a:pPr>
            <a:r>
              <a:t>IA apenas via WhatsApp</a:t>
            </a:r>
            <a:br/>
            <a:r>
              <a:t>(plano PRO). Investimentos</a:t>
            </a:r>
            <a:br/>
            <a:r>
              <a:t>em app separado.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572000"/>
            <a:ext cx="2057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43F5E"/>
                </a:solidFill>
                <a:latin typeface="Segoe UI"/>
              </a:defRPr>
            </a:pPr>
            <a:r>
              <a:t>A partir de R$ 8/mes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2194560"/>
            <a:ext cx="2514600" cy="29260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94760" y="2423160"/>
            <a:ext cx="2057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Organizze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3108960"/>
            <a:ext cx="2057400" cy="12801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700"/>
              </a:lnSpc>
              <a:defRPr sz="1200" b="0">
                <a:solidFill>
                  <a:srgbClr val="475569"/>
                </a:solidFill>
                <a:latin typeface="Segoe UI"/>
              </a:defRPr>
            </a:pPr>
            <a:r>
              <a:t>Sem IA. Sem investimentos.</a:t>
            </a:r>
            <a:br/>
            <a:r>
              <a:t>Sem plano gratuito.</a:t>
            </a:r>
            <a:br/>
            <a:r>
              <a:t>Interface datada.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4572000"/>
            <a:ext cx="2057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43F5E"/>
                </a:solidFill>
                <a:latin typeface="Segoe UI"/>
              </a:defRPr>
            </a:pPr>
            <a:r>
              <a:t>R$ 35/mes (manual)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2194560"/>
            <a:ext cx="2514600" cy="29260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423160"/>
            <a:ext cx="2057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GuiaBolso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108960"/>
            <a:ext cx="2057400" cy="12801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700"/>
              </a:lnSpc>
              <a:defRPr sz="1200" b="0">
                <a:solidFill>
                  <a:srgbClr val="475569"/>
                </a:solidFill>
                <a:latin typeface="Segoe UI"/>
              </a:defRPr>
            </a:pPr>
            <a:r>
              <a:t>Descontinuado em 2022.</a:t>
            </a:r>
            <a:br/>
            <a:r>
              <a:t>Usuarios perderam dados.</a:t>
            </a:r>
            <a:br/>
            <a:r>
              <a:t>Confianca comprometida.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572000"/>
            <a:ext cx="2057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43F5E"/>
                </a:solidFill>
                <a:latin typeface="Segoe UI"/>
              </a:defRPr>
            </a:pPr>
            <a:r>
              <a:t>Encerrado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2194560"/>
            <a:ext cx="2514600" cy="29260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64040" y="2423160"/>
            <a:ext cx="2057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Minhas</a:t>
            </a:r>
            <a:br/>
            <a:r>
              <a:t>Economias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64040" y="3108960"/>
            <a:ext cx="2057400" cy="12801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700"/>
              </a:lnSpc>
              <a:defRPr sz="1200" b="0">
                <a:solidFill>
                  <a:srgbClr val="475569"/>
                </a:solidFill>
                <a:latin typeface="Segoe UI"/>
              </a:defRPr>
            </a:pPr>
            <a:r>
              <a:t>Interface desatualizada.</a:t>
            </a:r>
            <a:br/>
            <a:r>
              <a:t>Instabilidade frequente.</a:t>
            </a:r>
            <a:br/>
            <a:r>
              <a:t>Sem IA nem projecao real.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4572000"/>
            <a:ext cx="2057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43F5E"/>
                </a:solidFill>
                <a:latin typeface="Segoe UI"/>
              </a:defRPr>
            </a:pPr>
            <a:r>
              <a:t>Gratuito (limitado)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COMPARATIVO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9144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600" b="1">
                <a:solidFill>
                  <a:srgbClr val="0F172A"/>
                </a:solidFill>
                <a:latin typeface="Segoe UI"/>
              </a:defRPr>
            </a:pPr>
            <a:r>
              <a:t>FinApp vs. concorrentes: funcionalidade por funcionalidade.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51560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292608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  Funcionalidade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463040"/>
            <a:ext cx="41148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Concorrentes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463040"/>
            <a:ext cx="292608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1">
                <a:solidFill>
                  <a:srgbClr val="34D399"/>
                </a:solidFill>
                <a:latin typeface="Segoe UI"/>
              </a:defRPr>
            </a:pPr>
            <a:r>
              <a:t>FinApp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65960"/>
            <a:ext cx="7223760" cy="43891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138160" y="1965960"/>
            <a:ext cx="2926080" cy="438912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65960"/>
            <a:ext cx="274320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150" b="0">
                <a:solidFill>
                  <a:srgbClr val="334155"/>
                </a:solidFill>
                <a:latin typeface="Segoe UI"/>
              </a:defRPr>
            </a:pPr>
            <a:r>
              <a:t>Plano gratuito completo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1965960"/>
            <a:ext cx="411480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64748B"/>
                </a:solidFill>
                <a:latin typeface="Segoe UI"/>
              </a:defRPr>
            </a:pPr>
            <a:r>
              <a:t>Limitado ou inexistente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1965960"/>
            <a:ext cx="292608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50" b="1">
                <a:solidFill>
                  <a:srgbClr val="059669"/>
                </a:solidFill>
                <a:latin typeface="Segoe UI"/>
              </a:defRPr>
            </a:pPr>
            <a:r>
              <a:t>✓  Sim, completo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404872"/>
            <a:ext cx="722376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2404872"/>
            <a:ext cx="2926080" cy="438912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404872"/>
            <a:ext cx="274320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150" b="0">
                <a:solidFill>
                  <a:srgbClr val="334155"/>
                </a:solidFill>
                <a:latin typeface="Segoe UI"/>
              </a:defRPr>
            </a:pPr>
            <a:r>
              <a:t>Assistente com 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2404872"/>
            <a:ext cx="411480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64748B"/>
                </a:solidFill>
                <a:latin typeface="Segoe UI"/>
              </a:defRPr>
            </a:pPr>
            <a:r>
              <a:t>Apenas Mobills (WhatsApp, plano PRO)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2404872"/>
            <a:ext cx="292608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50" b="1">
                <a:solidFill>
                  <a:srgbClr val="059669"/>
                </a:solidFill>
                <a:latin typeface="Segoe UI"/>
              </a:defRPr>
            </a:pPr>
            <a:r>
              <a:t>✓  Integrado (Gemini)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2843784"/>
            <a:ext cx="7223760" cy="43891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2843784"/>
            <a:ext cx="2926080" cy="438912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2843784"/>
            <a:ext cx="274320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150" b="0">
                <a:solidFill>
                  <a:srgbClr val="334155"/>
                </a:solidFill>
                <a:latin typeface="Segoe UI"/>
              </a:defRPr>
            </a:pPr>
            <a:r>
              <a:t>Importacao OFX/CSV/PDF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2843784"/>
            <a:ext cx="411480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64748B"/>
                </a:solidFill>
                <a:latin typeface="Segoe UI"/>
              </a:defRPr>
            </a:pPr>
            <a:r>
              <a:t>Mobills e Organizze (pagos, so OFX)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2843784"/>
            <a:ext cx="292608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50" b="1">
                <a:solidFill>
                  <a:srgbClr val="059669"/>
                </a:solidFill>
                <a:latin typeface="Segoe UI"/>
              </a:defRPr>
            </a:pPr>
            <a:r>
              <a:t>✓  3 formatos + IA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282696"/>
            <a:ext cx="722376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38160" y="3282696"/>
            <a:ext cx="2926080" cy="438912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3282696"/>
            <a:ext cx="274320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150" b="0">
                <a:solidFill>
                  <a:srgbClr val="334155"/>
                </a:solidFill>
                <a:latin typeface="Segoe UI"/>
              </a:defRPr>
            </a:pPr>
            <a:r>
              <a:t>KPIs e alertas inteligentes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3282696"/>
            <a:ext cx="411480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64748B"/>
                </a:solidFill>
                <a:latin typeface="Segoe UI"/>
              </a:defRPr>
            </a:pPr>
            <a:r>
              <a:t>Ausente ou basico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3282696"/>
            <a:ext cx="292608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50" b="1">
                <a:solidFill>
                  <a:srgbClr val="059669"/>
                </a:solidFill>
                <a:latin typeface="Segoe UI"/>
              </a:defRPr>
            </a:pPr>
            <a:r>
              <a:t>✓  5 KPIs + insights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3721608"/>
            <a:ext cx="7223760" cy="43891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38160" y="3721608"/>
            <a:ext cx="2926080" cy="438912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3721608"/>
            <a:ext cx="274320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150" b="0">
                <a:solidFill>
                  <a:srgbClr val="334155"/>
                </a:solidFill>
                <a:latin typeface="Segoe UI"/>
              </a:defRPr>
            </a:pPr>
            <a:r>
              <a:t>Tetos de orcamento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3721608"/>
            <a:ext cx="411480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64748B"/>
                </a:solidFill>
                <a:latin typeface="Segoe UI"/>
              </a:defRPr>
            </a:pPr>
            <a:r>
              <a:t>Ausente ou rigido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3721608"/>
            <a:ext cx="292608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50" b="1">
                <a:solidFill>
                  <a:srgbClr val="059669"/>
                </a:solidFill>
                <a:latin typeface="Segoe UI"/>
              </a:defRPr>
            </a:pPr>
            <a:r>
              <a:t>✓  Por categoria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4160520"/>
            <a:ext cx="722376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38160" y="4160520"/>
            <a:ext cx="2926080" cy="438912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4160520"/>
            <a:ext cx="274320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150" b="0">
                <a:solidFill>
                  <a:srgbClr val="334155"/>
                </a:solidFill>
                <a:latin typeface="Segoe UI"/>
              </a:defRPr>
            </a:pPr>
            <a:r>
              <a:t>Fluxo de caixa projetado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40480" y="4160520"/>
            <a:ext cx="411480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64748B"/>
                </a:solidFill>
                <a:latin typeface="Segoe UI"/>
              </a:defRPr>
            </a:pPr>
            <a:r>
              <a:t>Basico ou ausente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8160" y="4160520"/>
            <a:ext cx="292608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50" b="1">
                <a:solidFill>
                  <a:srgbClr val="059669"/>
                </a:solidFill>
                <a:latin typeface="Segoe UI"/>
              </a:defRPr>
            </a:pPr>
            <a:r>
              <a:t>✓  Diario + Previsto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" y="4599432"/>
            <a:ext cx="7223760" cy="43891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138160" y="4599432"/>
            <a:ext cx="2926080" cy="438912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" y="4599432"/>
            <a:ext cx="274320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150" b="0">
                <a:solidFill>
                  <a:srgbClr val="334155"/>
                </a:solidFill>
                <a:latin typeface="Segoe UI"/>
              </a:defRPr>
            </a:pPr>
            <a:r>
              <a:t>Investimentos integrados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40480" y="4599432"/>
            <a:ext cx="411480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64748B"/>
                </a:solidFill>
                <a:latin typeface="Segoe UI"/>
              </a:defRPr>
            </a:pPr>
            <a:r>
              <a:t>Ausente ou em app separado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38160" y="4599432"/>
            <a:ext cx="292608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50" b="1">
                <a:solidFill>
                  <a:srgbClr val="059669"/>
                </a:solidFill>
                <a:latin typeface="Segoe UI"/>
              </a:defRPr>
            </a:pPr>
            <a:r>
              <a:t>✓  CRUD + Evolucao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520" y="5038344"/>
            <a:ext cx="722376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38160" y="5038344"/>
            <a:ext cx="2926080" cy="438912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" y="5038344"/>
            <a:ext cx="274320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150" b="0">
                <a:solidFill>
                  <a:srgbClr val="334155"/>
                </a:solidFill>
                <a:latin typeface="Segoe UI"/>
              </a:defRPr>
            </a:pPr>
            <a:r>
              <a:t>Fechamento mensal guiado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5038344"/>
            <a:ext cx="411480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64748B"/>
                </a:solidFill>
                <a:latin typeface="Segoe UI"/>
              </a:defRPr>
            </a:pPr>
            <a:r>
              <a:t>Ausente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0" y="5038344"/>
            <a:ext cx="292608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50" b="1">
                <a:solidFill>
                  <a:srgbClr val="059669"/>
                </a:solidFill>
                <a:latin typeface="Segoe UI"/>
              </a:defRPr>
            </a:pPr>
            <a:r>
              <a:t>✓  Resumo + sugestoes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1520" y="5477256"/>
            <a:ext cx="7223760" cy="43891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138160" y="5477256"/>
            <a:ext cx="2926080" cy="438912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8680" y="5477256"/>
            <a:ext cx="274320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150" b="0">
                <a:solidFill>
                  <a:srgbClr val="334155"/>
                </a:solidFill>
                <a:latin typeface="Segoe UI"/>
              </a:defRPr>
            </a:pPr>
            <a:r>
              <a:t>Deteccao de recorrencias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40480" y="5477256"/>
            <a:ext cx="411480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64748B"/>
                </a:solidFill>
                <a:latin typeface="Segoe UI"/>
              </a:defRPr>
            </a:pPr>
            <a:r>
              <a:t>Ausente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138160" y="5477256"/>
            <a:ext cx="292608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50" b="1">
                <a:solidFill>
                  <a:srgbClr val="059669"/>
                </a:solidFill>
                <a:latin typeface="Segoe UI"/>
              </a:defRPr>
            </a:pPr>
            <a:r>
              <a:t>✓  Automatica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31520" y="5916168"/>
            <a:ext cx="722376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138160" y="5916168"/>
            <a:ext cx="2926080" cy="438912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68680" y="5916168"/>
            <a:ext cx="274320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150" b="0">
                <a:solidFill>
                  <a:srgbClr val="334155"/>
                </a:solidFill>
                <a:latin typeface="Segoe UI"/>
              </a:defRPr>
            </a:pPr>
            <a:r>
              <a:t>Dia de fechamento flexivel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40480" y="5916168"/>
            <a:ext cx="411480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64748B"/>
                </a:solidFill>
                <a:latin typeface="Segoe UI"/>
              </a:defRPr>
            </a:pPr>
            <a:r>
              <a:t>Ausente ou nao configuravel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38160" y="5916168"/>
            <a:ext cx="292608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50" b="1">
                <a:solidFill>
                  <a:srgbClr val="059669"/>
                </a:solidFill>
                <a:latin typeface="Segoe UI"/>
              </a:defRPr>
            </a:pPr>
            <a:r>
              <a:t>✓  Dias 1 a 28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31520" y="6355080"/>
            <a:ext cx="7223760" cy="43891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138160" y="6355080"/>
            <a:ext cx="2926080" cy="438912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68680" y="6355080"/>
            <a:ext cx="274320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150" b="0">
                <a:solidFill>
                  <a:srgbClr val="334155"/>
                </a:solidFill>
                <a:latin typeface="Segoe UI"/>
              </a:defRPr>
            </a:pPr>
            <a:r>
              <a:t>Plataforma web responsiva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0" y="6355080"/>
            <a:ext cx="411480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64748B"/>
                </a:solidFill>
                <a:latin typeface="Segoe UI"/>
              </a:defRPr>
            </a:pPr>
            <a:r>
              <a:t>Varia (alguns so mobile)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38160" y="6355080"/>
            <a:ext cx="292608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50" b="1">
                <a:solidFill>
                  <a:srgbClr val="059669"/>
                </a:solidFill>
                <a:latin typeface="Segoe UI"/>
              </a:defRPr>
            </a:pPr>
            <a:r>
              <a:t>✓  Web + mobile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914400"/>
            <a:ext cx="4114800" cy="4114800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10B981"/>
                </a:solidFill>
                <a:latin typeface="Segoe UI"/>
              </a:defRPr>
            </a:pPr>
            <a:r>
              <a:t>A SOLUCAO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5200"/>
              </a:lnSpc>
              <a:defRPr sz="4000" b="1">
                <a:solidFill>
                  <a:srgbClr val="FFFFFF"/>
                </a:solidFill>
                <a:latin typeface="Segoe UI"/>
              </a:defRPr>
            </a:pPr>
            <a:r>
              <a:t>Tudo o que voce precisa.</a:t>
            </a:r>
            <a:br/>
            <a:r>
              <a:t>Em um unico lugar.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017520"/>
            <a:ext cx="73152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600"/>
              </a:lnSpc>
              <a:defRPr sz="1700" b="0">
                <a:solidFill>
                  <a:srgbClr val="94A3B8"/>
                </a:solidFill>
                <a:latin typeface="Segoe UI"/>
              </a:defRPr>
            </a:pPr>
            <a:r>
              <a:t>Contas, transacoes, investimentos, projecoes e um assistente</a:t>
            </a:r>
            <a:br/>
            <a:r>
              <a:t>com inteligencia artificial — integrados numa plataforma moderna e gratuita.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114800"/>
            <a:ext cx="2468880" cy="43891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246888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1">
                <a:solidFill>
                  <a:srgbClr val="34D399"/>
                </a:solidFill>
                <a:latin typeface="Segoe UI"/>
              </a:defRPr>
            </a:pPr>
            <a:r>
              <a:t>✓  Controle completo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4114800"/>
            <a:ext cx="2468880" cy="43891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4114800"/>
            <a:ext cx="246888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1">
                <a:solidFill>
                  <a:srgbClr val="34D399"/>
                </a:solidFill>
                <a:latin typeface="Segoe UI"/>
              </a:defRPr>
            </a:pPr>
            <a:r>
              <a:t>✓  Projecao de fluxo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114800"/>
            <a:ext cx="2468880" cy="43891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4114800"/>
            <a:ext cx="246888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1">
                <a:solidFill>
                  <a:srgbClr val="34D399"/>
                </a:solidFill>
                <a:latin typeface="Segoe UI"/>
              </a:defRPr>
            </a:pPr>
            <a:r>
              <a:t>✓  Investimentos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63440"/>
            <a:ext cx="2468880" cy="43891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663440"/>
            <a:ext cx="246888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1">
                <a:solidFill>
                  <a:srgbClr val="34D399"/>
                </a:solidFill>
                <a:latin typeface="Segoe UI"/>
              </a:defRPr>
            </a:pPr>
            <a:r>
              <a:t>✓  Assistente 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74720" y="4663440"/>
            <a:ext cx="2468880" cy="43891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4663440"/>
            <a:ext cx="246888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1">
                <a:solidFill>
                  <a:srgbClr val="34D399"/>
                </a:solidFill>
                <a:latin typeface="Segoe UI"/>
              </a:defRPr>
            </a:pPr>
            <a:r>
              <a:t>✓  Importacao inteligente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663440"/>
            <a:ext cx="2468880" cy="43891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4663440"/>
            <a:ext cx="246888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1">
                <a:solidFill>
                  <a:srgbClr val="34D399"/>
                </a:solidFill>
                <a:latin typeface="Segoe UI"/>
              </a:defRPr>
            </a:pPr>
            <a:r>
              <a:t>✓  KPIs e alertas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212080"/>
            <a:ext cx="2468880" cy="43891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5212080"/>
            <a:ext cx="246888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1">
                <a:solidFill>
                  <a:srgbClr val="34D399"/>
                </a:solidFill>
                <a:latin typeface="Segoe UI"/>
              </a:defRPr>
            </a:pPr>
            <a:r>
              <a:t>✓  Tetos de orcamento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74720" y="5212080"/>
            <a:ext cx="2468880" cy="43891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0" y="5212080"/>
            <a:ext cx="246888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1">
                <a:solidFill>
                  <a:srgbClr val="34D399"/>
                </a:solidFill>
                <a:latin typeface="Segoe UI"/>
              </a:defRPr>
            </a:pPr>
            <a:r>
              <a:t>✓  Fechamento mensal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5212080"/>
            <a:ext cx="2468880" cy="43891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0" y="5212080"/>
            <a:ext cx="246888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1">
                <a:solidFill>
                  <a:srgbClr val="34D399"/>
                </a:solidFill>
                <a:latin typeface="Segoe UI"/>
              </a:defRPr>
            </a:pPr>
            <a:r>
              <a:t>✓  Deteccao de padroes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FUNCIONALIDADES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9144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0F172A"/>
                </a:solidFill>
                <a:latin typeface="Segoe UI"/>
              </a:defRPr>
            </a:pPr>
            <a:r>
              <a:t>Uma plataforma, seis pilares.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33832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737360"/>
            <a:ext cx="502920" cy="502920"/>
          </a:xfrm>
          <a:prstGeom prst="ellipse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55648"/>
            <a:ext cx="50292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$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2834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0F172A"/>
                </a:solidFill>
                <a:latin typeface="Segoe UI"/>
              </a:defRPr>
            </a:pPr>
            <a:r>
              <a:t>Controle Financeiro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51760"/>
            <a:ext cx="283464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700"/>
              </a:lnSpc>
              <a:defRPr sz="1150" b="0">
                <a:solidFill>
                  <a:srgbClr val="475569"/>
                </a:solidFill>
                <a:latin typeface="Segoe UI"/>
              </a:defRPr>
            </a:pPr>
            <a:r>
              <a:t>Contas, cartoes e carteiras. Transacoes com categorias, filtro mensal e saldo em tempo real.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1508760"/>
            <a:ext cx="33832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754880" y="1737360"/>
            <a:ext cx="502920" cy="502920"/>
          </a:xfrm>
          <a:prstGeom prst="ellipse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1755648"/>
            <a:ext cx="50292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331720"/>
            <a:ext cx="2834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0F172A"/>
                </a:solidFill>
                <a:latin typeface="Segoe UI"/>
              </a:defRPr>
            </a:pPr>
            <a:r>
              <a:t>Importacao Inteligente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651760"/>
            <a:ext cx="283464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700"/>
              </a:lnSpc>
              <a:defRPr sz="1150" b="0">
                <a:solidFill>
                  <a:srgbClr val="475569"/>
                </a:solidFill>
                <a:latin typeface="Segoe UI"/>
              </a:defRPr>
            </a:pPr>
            <a:r>
              <a:t>Importe extratos OFX, CSV ou PDF. PDFs de faturas sao extraidos automaticamente por IA (Gemini). Deteccao de duplicatas e categorizacao automatica.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1508760"/>
            <a:ext cx="33832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03920" y="1737360"/>
            <a:ext cx="502920" cy="502920"/>
          </a:xfrm>
          <a:prstGeom prst="ellipse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1755648"/>
            <a:ext cx="50292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331720"/>
            <a:ext cx="2834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0F172A"/>
                </a:solidFill>
                <a:latin typeface="Segoe UI"/>
              </a:defRPr>
            </a:pPr>
            <a:r>
              <a:t>Transacoes Planejadas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2651760"/>
            <a:ext cx="283464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700"/>
              </a:lnSpc>
              <a:defRPr sz="1150" b="0">
                <a:solidFill>
                  <a:srgbClr val="475569"/>
                </a:solidFill>
                <a:latin typeface="Segoe UI"/>
              </a:defRPr>
            </a:pPr>
            <a:r>
              <a:t>Recorrentes, pontuais e com periodo. Deteccao automatica de padroes nos seus gastos para criar recorrentes.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931920"/>
            <a:ext cx="33832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5840" y="4160520"/>
            <a:ext cx="502920" cy="502920"/>
          </a:xfrm>
          <a:prstGeom prst="ellipse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178808"/>
            <a:ext cx="50292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754880"/>
            <a:ext cx="2834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0F172A"/>
                </a:solidFill>
                <a:latin typeface="Segoe UI"/>
              </a:defRPr>
            </a:pPr>
            <a:r>
              <a:t>Fluxo e Orcamento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074920"/>
            <a:ext cx="283464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700"/>
              </a:lnSpc>
              <a:defRPr sz="1150" b="0">
                <a:solidFill>
                  <a:srgbClr val="475569"/>
                </a:solidFill>
                <a:latin typeface="Segoe UI"/>
              </a:defRPr>
            </a:pPr>
            <a:r>
              <a:t>Fluxo Diario e Previsto. KPIs financeiros, tetos de orcamento por categoria e alertas automaticos.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3931920"/>
            <a:ext cx="33832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754880" y="4160520"/>
            <a:ext cx="502920" cy="502920"/>
          </a:xfrm>
          <a:prstGeom prst="ellipse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0" y="4178808"/>
            <a:ext cx="50292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4754880"/>
            <a:ext cx="2834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0F172A"/>
                </a:solidFill>
                <a:latin typeface="Segoe UI"/>
              </a:defRPr>
            </a:pPr>
            <a:r>
              <a:t>Investimentos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5074920"/>
            <a:ext cx="283464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700"/>
              </a:lnSpc>
              <a:defRPr sz="1150" b="0">
                <a:solidFill>
                  <a:srgbClr val="475569"/>
                </a:solidFill>
                <a:latin typeface="Segoe UI"/>
              </a:defRPr>
            </a:pPr>
            <a:r>
              <a:t>Carteira com aportes, resgates e saldos. Evolucao mensal e retorno real descontando inflacao (IPCA).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0" y="3931920"/>
            <a:ext cx="33832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503920" y="4160520"/>
            <a:ext cx="502920" cy="502920"/>
          </a:xfrm>
          <a:prstGeom prst="ellipse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20" y="4178808"/>
            <a:ext cx="50292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4754880"/>
            <a:ext cx="2834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0F172A"/>
                </a:solidFill>
                <a:latin typeface="Segoe UI"/>
              </a:defRPr>
            </a:pPr>
            <a:r>
              <a:t>Assistente com IA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5074920"/>
            <a:ext cx="283464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700"/>
              </a:lnSpc>
              <a:defRPr sz="1150" b="0">
                <a:solidFill>
                  <a:srgbClr val="475569"/>
                </a:solidFill>
                <a:latin typeface="Segoe UI"/>
              </a:defRPr>
            </a:pPr>
            <a:r>
              <a:t>Chat com Gemini que analisa seus dados reais. Insights proativos e fechamento mensal guiado.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66928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4114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10B981"/>
                </a:solidFill>
                <a:latin typeface="Segoe UI"/>
              </a:defRPr>
            </a:pPr>
            <a:r>
              <a:t>DIFERENCIAL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5720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4600"/>
              </a:lnSpc>
              <a:defRPr sz="3600" b="1">
                <a:solidFill>
                  <a:srgbClr val="FFFFFF"/>
                </a:solidFill>
                <a:latin typeface="Segoe UI"/>
              </a:defRPr>
            </a:pPr>
            <a:r>
              <a:t>Um assistente</a:t>
            </a:r>
            <a:br/>
            <a:r>
              <a:t>que entende</a:t>
            </a:r>
            <a:br/>
            <a:r>
              <a:t>suas financas.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91840"/>
            <a:ext cx="438912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200"/>
              </a:lnSpc>
              <a:defRPr sz="1400" b="0">
                <a:solidFill>
                  <a:srgbClr val="94A3B8"/>
                </a:solidFill>
                <a:latin typeface="Segoe UI"/>
              </a:defRPr>
            </a:pPr>
            <a:r>
              <a:t>O FinAssist analisa suas contas, transacoes, recorrentes e investimentos em tempo real para entregar diagnosticos personalizados — nao respostas genericas.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0"/>
            <a:ext cx="4114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4748B"/>
                </a:solidFill>
                <a:latin typeface="Segoe UI"/>
              </a:defRPr>
            </a:pPr>
            <a:r>
              <a:t>Powered by Gemini 2.5 Flash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73152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64748B"/>
                </a:solidFill>
                <a:latin typeface="Segoe UI"/>
              </a:defRPr>
            </a:pPr>
            <a:r>
              <a:t>Pergunte qualquer coisa: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029200" cy="5943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371600"/>
            <a:ext cx="45720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400" b="0">
                <a:solidFill>
                  <a:srgbClr val="334155"/>
                </a:solidFill>
                <a:latin typeface="Segoe UI"/>
              </a:defRPr>
            </a:pPr>
            <a:r>
              <a:t>"Como esta minha saude financeira?"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148840"/>
            <a:ext cx="5029200" cy="5943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148840"/>
            <a:ext cx="45720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400" b="0">
                <a:solidFill>
                  <a:srgbClr val="334155"/>
                </a:solidFill>
                <a:latin typeface="Segoe UI"/>
              </a:defRPr>
            </a:pPr>
            <a:r>
              <a:t>"Minhas despesas estao controladas?"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926080"/>
            <a:ext cx="5029200" cy="5943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926080"/>
            <a:ext cx="45720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400" b="0">
                <a:solidFill>
                  <a:srgbClr val="334155"/>
                </a:solidFill>
                <a:latin typeface="Segoe UI"/>
              </a:defRPr>
            </a:pPr>
            <a:r>
              <a:t>"Minha carteira esta diversificada?"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703320"/>
            <a:ext cx="5029200" cy="5943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703320"/>
            <a:ext cx="45720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400" b="0">
                <a:solidFill>
                  <a:srgbClr val="334155"/>
                </a:solidFill>
                <a:latin typeface="Segoe UI"/>
              </a:defRPr>
            </a:pPr>
            <a:r>
              <a:t>"Quais categorias estouraram o teto?"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480560"/>
            <a:ext cx="5029200" cy="5943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480560"/>
            <a:ext cx="45720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400" b="0">
                <a:solidFill>
                  <a:srgbClr val="334155"/>
                </a:solidFill>
                <a:latin typeface="Segoe UI"/>
              </a:defRPr>
            </a:pPr>
            <a:r>
              <a:t>"Tenho reserva de emergencia suficiente?"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5257800"/>
            <a:ext cx="5029200" cy="5943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5257800"/>
            <a:ext cx="45720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400" b="0">
                <a:solidFill>
                  <a:srgbClr val="334155"/>
                </a:solidFill>
                <a:latin typeface="Segoe UI"/>
              </a:defRPr>
            </a:pPr>
            <a:r>
              <a:t>"Como posso economizar mais?"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6035040"/>
            <a:ext cx="5029200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6035040"/>
            <a:ext cx="45720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100" b="0">
                <a:solidFill>
                  <a:srgbClr val="475569"/>
                </a:solidFill>
                <a:latin typeface="Segoe UI"/>
              </a:defRPr>
            </a:pPr>
            <a:r>
              <a:t>↻  Mantem o contexto da conversa — faca perguntas de acompanhamento naturalmente.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A EVIDENCIA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0F172A"/>
                </a:solidFill>
                <a:latin typeface="Segoe UI"/>
              </a:defRPr>
            </a:pPr>
            <a:r>
              <a:t>Controlar financas funciona. Os numeros comprovam.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286000"/>
            <a:ext cx="251460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5840" y="2514600"/>
            <a:ext cx="457200" cy="508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88920"/>
            <a:ext cx="19659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000" b="1">
                <a:solidFill>
                  <a:srgbClr val="059669"/>
                </a:solidFill>
                <a:latin typeface="Segoe UI"/>
              </a:defRPr>
            </a:pPr>
            <a:r>
              <a:t>88%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520440"/>
            <a:ext cx="196596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defRPr sz="1300" b="0">
                <a:solidFill>
                  <a:srgbClr val="475569"/>
                </a:solidFill>
                <a:latin typeface="Segoe UI"/>
              </a:defRPr>
            </a:pPr>
            <a:r>
              <a:t>dos usuarios de apps</a:t>
            </a:r>
            <a:br/>
            <a:r>
              <a:t>financeiros consideram</a:t>
            </a:r>
            <a:br/>
            <a:r>
              <a:t>a ferramenta muito</a:t>
            </a:r>
            <a:br/>
            <a:r>
              <a:t>ou extremamente util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846320"/>
            <a:ext cx="19659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94A3B8"/>
                </a:solidFill>
                <a:latin typeface="Segoe UI"/>
              </a:defRPr>
            </a:pPr>
            <a:r>
              <a:t>Academy Bank Research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2286000"/>
            <a:ext cx="251460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840480" y="2514600"/>
            <a:ext cx="457200" cy="50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2788920"/>
            <a:ext cx="19659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000" b="1">
                <a:solidFill>
                  <a:srgbClr val="3B82F6"/>
                </a:solidFill>
                <a:latin typeface="Segoe UI"/>
              </a:defRPr>
            </a:pPr>
            <a:r>
              <a:t>2,5x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3520440"/>
            <a:ext cx="196596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defRPr sz="1300" b="0">
                <a:solidFill>
                  <a:srgbClr val="475569"/>
                </a:solidFill>
                <a:latin typeface="Segoe UI"/>
              </a:defRPr>
            </a:pPr>
            <a:r>
              <a:t>mais chance de</a:t>
            </a:r>
            <a:br/>
            <a:r>
              <a:t>poupar o suficiente</a:t>
            </a:r>
            <a:br/>
            <a:r>
              <a:t>para aposentadoria</a:t>
            </a:r>
            <a:br/>
            <a:r>
              <a:t>com planejamento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4846320"/>
            <a:ext cx="19659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94A3B8"/>
                </a:solidFill>
                <a:latin typeface="Segoe UI"/>
              </a:defRPr>
            </a:pPr>
            <a:r>
              <a:t>Ramsey Solutions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2286000"/>
            <a:ext cx="251460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2514600"/>
            <a:ext cx="457200" cy="508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2788920"/>
            <a:ext cx="19659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000" b="1">
                <a:solidFill>
                  <a:srgbClr val="059669"/>
                </a:solidFill>
                <a:latin typeface="Segoe UI"/>
              </a:defRPr>
            </a:pPr>
            <a:r>
              <a:t>+59%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3520440"/>
            <a:ext cx="196596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defRPr sz="1300" b="0">
                <a:solidFill>
                  <a:srgbClr val="475569"/>
                </a:solidFill>
                <a:latin typeface="Segoe UI"/>
              </a:defRPr>
            </a:pPr>
            <a:r>
              <a:t>crescimento em</a:t>
            </a:r>
            <a:br/>
            <a:r>
              <a:t>instalacoes de apps</a:t>
            </a:r>
            <a:br/>
            <a:r>
              <a:t>financeiros na</a:t>
            </a:r>
            <a:br/>
            <a:r>
              <a:t>America Latina (2025)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4846320"/>
            <a:ext cx="19659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94A3B8"/>
                </a:solidFill>
                <a:latin typeface="Segoe UI"/>
              </a:defRPr>
            </a:pPr>
            <a:r>
              <a:t>TI Inside / Adjust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2286000"/>
            <a:ext cx="251460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509760" y="2514600"/>
            <a:ext cx="4572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60" y="2788920"/>
            <a:ext cx="19659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000" b="1">
                <a:solidFill>
                  <a:srgbClr val="F59E0B"/>
                </a:solidFill>
                <a:latin typeface="Segoe UI"/>
              </a:defRPr>
            </a:pPr>
            <a:r>
              <a:t>90%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3520440"/>
            <a:ext cx="196596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defRPr sz="1300" b="0">
                <a:solidFill>
                  <a:srgbClr val="475569"/>
                </a:solidFill>
                <a:latin typeface="Segoe UI"/>
              </a:defRPr>
            </a:pPr>
            <a:r>
              <a:t>dos brasileiros</a:t>
            </a:r>
            <a:br/>
            <a:r>
              <a:t>admitem precisar</a:t>
            </a:r>
            <a:br/>
            <a:r>
              <a:t>de educacao</a:t>
            </a:r>
            <a:br/>
            <a:r>
              <a:t>financeira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0" y="4846320"/>
            <a:ext cx="19659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94A3B8"/>
                </a:solidFill>
                <a:latin typeface="Segoe UI"/>
              </a:defRPr>
            </a:pPr>
            <a:r>
              <a:t>Funpresp-Jud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OPORTUNIDADE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0F172A"/>
                </a:solidFill>
                <a:latin typeface="Segoe UI"/>
              </a:defRPr>
            </a:pPr>
            <a:r>
              <a:t>Um mercado enorme, com lacunas claras.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103120"/>
            <a:ext cx="50800" cy="10972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1148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059669"/>
                </a:solidFill>
                <a:latin typeface="Segoe UI"/>
              </a:defRPr>
            </a:pPr>
            <a:r>
              <a:t>USD 21,4 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06040"/>
            <a:ext cx="41148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defRPr sz="1300" b="0">
                <a:solidFill>
                  <a:srgbClr val="475569"/>
                </a:solidFill>
                <a:latin typeface="Segoe UI"/>
              </a:defRPr>
            </a:pPr>
            <a:r>
              <a:t>Mercado global de apps</a:t>
            </a:r>
            <a:br/>
            <a:r>
              <a:t>financeiros em 2025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657600"/>
            <a:ext cx="50800" cy="10972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657600"/>
            <a:ext cx="41148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3B82F6"/>
                </a:solidFill>
                <a:latin typeface="Segoe UI"/>
              </a:defRPr>
            </a:pPr>
            <a:r>
              <a:t>42 milhoes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160520"/>
            <a:ext cx="41148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defRPr sz="1300" b="0">
                <a:solidFill>
                  <a:srgbClr val="475569"/>
                </a:solidFill>
                <a:latin typeface="Segoe UI"/>
              </a:defRPr>
            </a:pPr>
            <a:r>
              <a:t>Brasileiros ja usam</a:t>
            </a:r>
            <a:br/>
            <a:r>
              <a:t>Open Finance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212080"/>
            <a:ext cx="50800" cy="10972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212080"/>
            <a:ext cx="41148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F59E0B"/>
                </a:solidFill>
                <a:latin typeface="Segoe UI"/>
              </a:defRPr>
            </a:pPr>
            <a:r>
              <a:t>44%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715000"/>
            <a:ext cx="41148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defRPr sz="1300" b="0">
                <a:solidFill>
                  <a:srgbClr val="475569"/>
                </a:solidFill>
                <a:latin typeface="Segoe UI"/>
              </a:defRPr>
            </a:pPr>
            <a:r>
              <a:t>Dos bancarizados se veem</a:t>
            </a:r>
            <a:br/>
            <a:r>
              <a:t>gerindo financas so pelo celular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03120"/>
            <a:ext cx="5029200" cy="41148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468880"/>
            <a:ext cx="4114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34D399"/>
                </a:solidFill>
                <a:latin typeface="Segoe UI"/>
              </a:defRPr>
            </a:pPr>
            <a:r>
              <a:t>FinApp preenche as lacunas: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063240"/>
            <a:ext cx="4114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700"/>
              </a:lnSpc>
              <a:defRPr sz="1250" b="0">
                <a:solidFill>
                  <a:srgbClr val="FFFFFF"/>
                </a:solidFill>
                <a:latin typeface="Segoe UI"/>
              </a:defRPr>
            </a:pPr>
            <a:r>
              <a:t>✓  Gratuito e completo — sem paywall em funcionalidades essenciais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538728"/>
            <a:ext cx="4114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700"/>
              </a:lnSpc>
              <a:defRPr sz="1250" b="0">
                <a:solidFill>
                  <a:srgbClr val="FFFFFF"/>
                </a:solidFill>
                <a:latin typeface="Segoe UI"/>
              </a:defRPr>
            </a:pPr>
            <a:r>
              <a:t>✓  IA integrada no app — nao em canal separado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014216"/>
            <a:ext cx="4114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700"/>
              </a:lnSpc>
              <a:defRPr sz="1250" b="0">
                <a:solidFill>
                  <a:srgbClr val="FFFFFF"/>
                </a:solidFill>
                <a:latin typeface="Segoe UI"/>
              </a:defRPr>
            </a:pPr>
            <a:r>
              <a:t>✓  Importacao OFX, CSV e PDF com IA — 3 formatos, nao apenas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4489704"/>
            <a:ext cx="4114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700"/>
              </a:lnSpc>
              <a:defRPr sz="1250" b="0">
                <a:solidFill>
                  <a:srgbClr val="FFFFFF"/>
                </a:solidFill>
                <a:latin typeface="Segoe UI"/>
              </a:defRPr>
            </a:pPr>
            <a:r>
              <a:t>✓  KPIs, tetos e alertas — orcamento ativo, nao passivo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4965192"/>
            <a:ext cx="4114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700"/>
              </a:lnSpc>
              <a:defRPr sz="1250" b="0">
                <a:solidFill>
                  <a:srgbClr val="FFFFFF"/>
                </a:solidFill>
                <a:latin typeface="Segoe UI"/>
              </a:defRPr>
            </a:pPr>
            <a:r>
              <a:t>✓  Investimentos na mesma plataforma — nao em app a parte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5440680"/>
            <a:ext cx="4114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700"/>
              </a:lnSpc>
              <a:defRPr sz="1250" b="0">
                <a:solidFill>
                  <a:srgbClr val="FFFFFF"/>
                </a:solidFill>
                <a:latin typeface="Segoe UI"/>
              </a:defRPr>
            </a:pPr>
            <a:r>
              <a:t>✓  Fechamento mensal e deteccao de padroes — inteligencia proativa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966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D1FAE5"/>
                </a:solidFill>
                <a:latin typeface="Segoe UI"/>
              </a:defRPr>
            </a:pPr>
            <a:r>
              <a:t>RESUMO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91440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000" b="1">
                <a:solidFill>
                  <a:srgbClr val="FFFFFF"/>
                </a:solidFill>
                <a:latin typeface="Segoe UI"/>
              </a:defRPr>
            </a:pPr>
            <a:r>
              <a:t>Por que FinApp?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560320"/>
            <a:ext cx="3291840" cy="3200400"/>
          </a:xfrm>
          <a:prstGeom prst="roundRect">
            <a:avLst/>
          </a:prstGeom>
          <a:solidFill>
            <a:srgbClr val="047D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880360"/>
            <a:ext cx="2560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Completo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429000"/>
            <a:ext cx="731520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657600"/>
            <a:ext cx="256032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900"/>
              </a:lnSpc>
              <a:defRPr sz="1300" b="0">
                <a:solidFill>
                  <a:srgbClr val="D1FAE5"/>
                </a:solidFill>
                <a:latin typeface="Segoe UI"/>
              </a:defRPr>
            </a:pPr>
            <a:r>
              <a:t>Contas + Transacoes + Recorrentes +</a:t>
            </a:r>
            <a:br/>
            <a:r>
              <a:t>Investimentos + Fluxo + IA</a:t>
            </a:r>
            <a:br/>
            <a:r>
              <a:t>Importacao OFX, CSV e PDF</a:t>
            </a:r>
            <a:br/>
            <a:br/>
            <a:r>
              <a:t>Tudo integrado, sem fragmentacao.</a:t>
            </a:r>
            <a:br/>
            <a:r>
              <a:t>Sem precisar de 3 apps diferentes.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2560320"/>
            <a:ext cx="3291840" cy="3200400"/>
          </a:xfrm>
          <a:prstGeom prst="roundRect">
            <a:avLst/>
          </a:prstGeom>
          <a:solidFill>
            <a:srgbClr val="047D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00600" y="2880360"/>
            <a:ext cx="2560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Inteligente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00600" y="3429000"/>
            <a:ext cx="731520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3657600"/>
            <a:ext cx="256032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900"/>
              </a:lnSpc>
              <a:defRPr sz="1300" b="0">
                <a:solidFill>
                  <a:srgbClr val="D1FAE5"/>
                </a:solidFill>
                <a:latin typeface="Segoe UI"/>
              </a:defRPr>
            </a:pPr>
            <a:r>
              <a:t>Assistente IA com dados reais.</a:t>
            </a:r>
            <a:br/>
            <a:r>
              <a:t>5 KPIs, insights proativos,</a:t>
            </a:r>
            <a:br/>
            <a:r>
              <a:t>tetos de orcamento e alertas.</a:t>
            </a:r>
            <a:br/>
            <a:r>
              <a:t>Deteccao de recorrencias e</a:t>
            </a:r>
            <a:br/>
            <a:r>
              <a:t>fechamento mensal guiado.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560320"/>
            <a:ext cx="3291840" cy="3200400"/>
          </a:xfrm>
          <a:prstGeom prst="roundRect">
            <a:avLst/>
          </a:prstGeom>
          <a:solidFill>
            <a:srgbClr val="047D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2880360"/>
            <a:ext cx="2560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Acessivel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03920" y="3429000"/>
            <a:ext cx="731520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0" y="3657600"/>
            <a:ext cx="256032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900"/>
              </a:lnSpc>
              <a:defRPr sz="1300" b="0">
                <a:solidFill>
                  <a:srgbClr val="D1FAE5"/>
                </a:solidFill>
                <a:latin typeface="Segoe UI"/>
              </a:defRPr>
            </a:pPr>
            <a:r>
              <a:t>Interface moderna e intuitiva.</a:t>
            </a:r>
            <a:br/>
            <a:r>
              <a:t>Gratuito e sem paywall.</a:t>
            </a:r>
            <a:br/>
            <a:br/>
            <a:r>
              <a:t>Funcionalidades que custam</a:t>
            </a:r>
            <a:br/>
            <a:r>
              <a:t>R$ 35/mes em outros apps.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2743200"/>
            <a:ext cx="4572000" cy="4572000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91440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5600"/>
              </a:lnSpc>
              <a:defRPr sz="4400" b="1">
                <a:solidFill>
                  <a:srgbClr val="FFFFFF"/>
                </a:solidFill>
                <a:latin typeface="Segoe UI"/>
              </a:defRPr>
            </a:pPr>
            <a:r>
              <a:t>Assuma o controle</a:t>
            </a:r>
            <a:br/>
            <a:r>
              <a:t>das suas financas.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7315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0">
                <a:solidFill>
                  <a:srgbClr val="34D399"/>
                </a:solidFill>
                <a:latin typeface="Segoe UI"/>
              </a:defRPr>
            </a:pPr>
            <a:r>
              <a:t>Comece hoje. E gratuito.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572000"/>
            <a:ext cx="3200400" cy="68580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572000"/>
            <a:ext cx="3200400" cy="685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Conheca o FinApp  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852160"/>
            <a:ext cx="109728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035040"/>
            <a:ext cx="5486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4748B"/>
                </a:solidFill>
                <a:latin typeface="Segoe UI"/>
              </a:defRPr>
            </a:pPr>
            <a:r>
              <a:t>FinApp  |  Gestao Financeira Pessoal  |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