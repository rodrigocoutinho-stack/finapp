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572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600" b="1">
                <a:solidFill>
                  <a:srgbClr val="10B981"/>
                </a:solidFill>
                <a:latin typeface="Segoe UI"/>
              </a:defRPr>
            </a:pPr>
            <a:r>
              <a:t>FinApp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6400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Gestao financeira pessoal inteligente.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Controle completo. Projecoes reais. Assistente com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03520"/>
            <a:ext cx="1371600" cy="381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Fevereiro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O CENARIO ATUAL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0F172A"/>
                </a:solidFill>
                <a:latin typeface="Segoe UI"/>
              </a:defRPr>
            </a:pPr>
            <a:r>
              <a:t>Metade do Brasil esta no vermelho.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475569"/>
                </a:solidFill>
                <a:latin typeface="Segoe UI"/>
              </a:defRPr>
            </a:pPr>
            <a:r>
              <a:t>81,2 milhoes de brasileiros estao inadimplentes — recorde historico.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" y="3383280"/>
            <a:ext cx="548640" cy="50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43F5E"/>
                </a:solidFill>
                <a:latin typeface="Segoe UI"/>
              </a:defRPr>
            </a:pPr>
            <a:r>
              <a:t>48%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dos brasileiros</a:t>
            </a:r>
            <a:br/>
            <a:r>
              <a:t>nao controlam o</a:t>
            </a:r>
            <a:br/>
            <a:r>
              <a:t>proprio orcamento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20040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0" y="3383280"/>
            <a:ext cx="5486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361188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R$ 518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0292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em dividas acumuladas</a:t>
            </a:r>
            <a:br/>
            <a:r>
              <a:t>pelos inadimplentes</a:t>
            </a:r>
            <a:br/>
            <a:r>
              <a:t>em dezembro de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00400"/>
            <a:ext cx="32918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03920" y="3383280"/>
            <a:ext cx="5486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361188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3B82F6"/>
                </a:solidFill>
                <a:latin typeface="Segoe UI"/>
              </a:defRPr>
            </a:pPr>
            <a:r>
              <a:t>77,5%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029200"/>
            <a:ext cx="2743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das familias</a:t>
            </a:r>
            <a:br/>
            <a:r>
              <a:t>brasileiras estao</a:t>
            </a:r>
            <a:br/>
            <a:r>
              <a:t>endividadas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Fontes: Serasa (Dez/2025), CNDL/SPC Brasil, CNC/Agencia Brasil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 RAIZ DO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Por que as pessoas nao controlam suas financas?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43F5E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487168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Nao sabem como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88036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75569"/>
                </a:solidFill>
                <a:latin typeface="Segoe UI"/>
              </a:defRPr>
            </a:pPr>
            <a:r>
              <a:t>19% dos jovens dizem nao saber por onde comecar. Falta educacao financeira — 55% entendem pouco ou nada sobre o 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5029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59E0B"/>
                </a:solidFill>
                <a:latin typeface="Segoe UI"/>
              </a:defRPr>
            </a:pPr>
            <a:r>
              <a:t>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487168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Falta de disciplina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88036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75569"/>
                </a:solidFill>
                <a:latin typeface="Segoe UI"/>
              </a:defRPr>
            </a:pPr>
            <a:r>
              <a:t>Registrar gastos manualmente e tedioso. A maioria desiste em poucas semanas. 36% dos que tentam usam caderno de papel.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5029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590288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Ferramentas complexas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98348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75569"/>
                </a:solidFill>
                <a:latin typeface="Segoe UI"/>
              </a:defRPr>
            </a:pPr>
            <a:r>
              <a:t>Apps com muitos menus, configuracoes confusas e funcionalidades fragmentadas. Investimentos num app, gastos em outro, projecoes numa planilha.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389120"/>
            <a:ext cx="50292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46177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475569"/>
                </a:solidFill>
                <a:latin typeface="Segoe UI"/>
              </a:defRPr>
            </a:pPr>
            <a:r>
              <a:t>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590288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Ferramentas caras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983480"/>
            <a:ext cx="4023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75569"/>
                </a:solidFill>
                <a:latin typeface="Segoe UI"/>
              </a:defRPr>
            </a:pPr>
            <a:r>
              <a:t>Organizze cobra R$ 35/mes so para controle manual. Mobills exige plano PRO para IA. Funcionalidades essenciais atras de paywall.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Fontes: CNDL/SPC Brasil, FEBRABAN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O MERCADO 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As ferramentas existentes nao resolvem o problema completo.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17924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ataca</a:t>
            </a:r>
            <a:r>
              <a:rPr dirty="0"/>
              <a:t> um </a:t>
            </a:r>
            <a:r>
              <a:rPr dirty="0" err="1"/>
              <a:t>pedaco</a:t>
            </a:r>
            <a:r>
              <a:rPr dirty="0"/>
              <a:t> — </a:t>
            </a:r>
            <a:r>
              <a:rPr dirty="0" err="1"/>
              <a:t>nenhuma</a:t>
            </a:r>
            <a:r>
              <a:rPr dirty="0"/>
              <a:t> </a:t>
            </a:r>
            <a:r>
              <a:rPr dirty="0" err="1"/>
              <a:t>oferece</a:t>
            </a:r>
            <a:r>
              <a:rPr dirty="0"/>
              <a:t> a </a:t>
            </a:r>
            <a:r>
              <a:rPr dirty="0" err="1"/>
              <a:t>visao</a:t>
            </a:r>
            <a:r>
              <a:rPr dirty="0"/>
              <a:t> </a:t>
            </a:r>
            <a:r>
              <a:rPr dirty="0" err="1"/>
              <a:t>integrada</a:t>
            </a:r>
            <a:r>
              <a:rPr dirty="0"/>
              <a:t> que o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30585"/>
            <a:ext cx="251460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3259185"/>
            <a:ext cx="2057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Mobills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44985"/>
            <a:ext cx="2057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75569"/>
                </a:solidFill>
                <a:latin typeface="Segoe UI"/>
              </a:defRPr>
            </a:pPr>
            <a:r>
              <a:t>IA apenas via WhatsApp</a:t>
            </a:r>
            <a:br/>
            <a:r>
              <a:t>(plano PRO). Investimentos</a:t>
            </a:r>
            <a:br/>
            <a:r>
              <a:t>em app separado.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408025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A partir de R$ 8/mes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030585"/>
            <a:ext cx="251460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3259185"/>
            <a:ext cx="2057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Organizze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944985"/>
            <a:ext cx="2057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75569"/>
                </a:solidFill>
                <a:latin typeface="Segoe UI"/>
              </a:defRPr>
            </a:pPr>
            <a:r>
              <a:t>Sem IA. Sem investimentos.</a:t>
            </a:r>
            <a:br/>
            <a:r>
              <a:t>Sem plano gratuito.</a:t>
            </a:r>
            <a:br/>
            <a:r>
              <a:t>Interface datada.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5408025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R$ 35/mes (manual)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030585"/>
            <a:ext cx="251460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259185"/>
            <a:ext cx="2057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GuiaBolso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44985"/>
            <a:ext cx="2057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75569"/>
                </a:solidFill>
                <a:latin typeface="Segoe UI"/>
              </a:defRPr>
            </a:pPr>
            <a:r>
              <a:t>Descontinuado em 2022.</a:t>
            </a:r>
            <a:br/>
            <a:r>
              <a:t>Usuarios perderam dados.</a:t>
            </a:r>
            <a:br/>
            <a:r>
              <a:t>Confianca comprometida.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408025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Encerrado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030585"/>
            <a:ext cx="2514600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3259185"/>
            <a:ext cx="2057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Minhas</a:t>
            </a:r>
            <a:br/>
            <a:r>
              <a:t>Economias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944985"/>
            <a:ext cx="2057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>
                <a:solidFill>
                  <a:srgbClr val="475569"/>
                </a:solidFill>
                <a:latin typeface="Segoe UI"/>
              </a:defRPr>
            </a:pPr>
            <a:r>
              <a:t>Interface desatualizada.</a:t>
            </a:r>
            <a:br/>
            <a:r>
              <a:t>Instabilidade frequente.</a:t>
            </a:r>
            <a:br/>
            <a:r>
              <a:t>Sem IA nem projecao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5408025"/>
            <a:ext cx="2057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Gratuito (limitado)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200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COMPARATIVO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3546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FinApp</a:t>
            </a:r>
            <a:r>
              <a:rPr dirty="0"/>
              <a:t> vs. </a:t>
            </a:r>
            <a:r>
              <a:rPr dirty="0" err="1"/>
              <a:t>concorrentes</a:t>
            </a:r>
            <a:r>
              <a:rPr dirty="0"/>
              <a:t>: </a:t>
            </a:r>
            <a:r>
              <a:rPr dirty="0" err="1"/>
              <a:t>funcionalidade</a:t>
            </a:r>
            <a:r>
              <a:rPr dirty="0"/>
              <a:t> por </a:t>
            </a:r>
            <a:r>
              <a:rPr dirty="0" err="1"/>
              <a:t>funcionalidade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926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Funcionalidade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63040"/>
            <a:ext cx="41148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Concorrentes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463040"/>
            <a:ext cx="2926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FinApp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722376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38160" y="1965960"/>
            <a:ext cx="292608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Plano gratuito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65960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Limitado ou inexistente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65960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Sim, completo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04872"/>
            <a:ext cx="7223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2404872"/>
            <a:ext cx="292608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404872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Assistente com 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404872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Apenas Mobills (WhatsApp, plano PRO)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404872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Integrado (Gemini)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43784"/>
            <a:ext cx="722376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2843784"/>
            <a:ext cx="292608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843784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Importacao OFX/CSV/PDF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843784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Mobills e Organizze (pagos, so OFX)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43784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3 formatos + 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82696"/>
            <a:ext cx="7223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3282696"/>
            <a:ext cx="292608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282696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KPIs e alertas inteligentes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282696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Ausente ou basico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282696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5 KPIs + insights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21608"/>
            <a:ext cx="722376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721608"/>
            <a:ext cx="292608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3721608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Tetos de orcamento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721608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Ausente ou rigido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3721608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Por categoria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160520"/>
            <a:ext cx="7223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4160520"/>
            <a:ext cx="292608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160520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Fluxo de caixa projetado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160520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Basico ou ausente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160520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Diario + Previsto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599432"/>
            <a:ext cx="722376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38160" y="4599432"/>
            <a:ext cx="292608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4599432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Investimentos integrados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599432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Ausente ou em app separado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4599432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CRUD + Evolucao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038344"/>
            <a:ext cx="7223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38160" y="5038344"/>
            <a:ext cx="292608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" y="5038344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Fechamento mensal guiado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038344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Ausente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5038344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Resumo + sugestoes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477256"/>
            <a:ext cx="722376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5477256"/>
            <a:ext cx="292608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477256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Deteccao de recorrencias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5477256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Ausente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5477256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Automatica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5916168"/>
            <a:ext cx="722376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138160" y="5916168"/>
            <a:ext cx="2926080" cy="4389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" y="5916168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Dia de fechamento flexivel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5916168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Ausente ou nao configuravel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5916168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Dias 1 a 28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6355080"/>
            <a:ext cx="722376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38160" y="6355080"/>
            <a:ext cx="2926080" cy="43891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80" y="6355080"/>
            <a:ext cx="2743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50" b="0">
                <a:solidFill>
                  <a:srgbClr val="334155"/>
                </a:solidFill>
                <a:latin typeface="Segoe UI"/>
              </a:defRPr>
            </a:pPr>
            <a:r>
              <a:t>Plataforma web responsiva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6355080"/>
            <a:ext cx="41148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Varia (alguns so mobile)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6355080"/>
            <a:ext cx="29260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t>✓  Web + mobile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4114800" cy="41148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 SOLUCAO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200"/>
              </a:lnSpc>
              <a:defRPr sz="4000" b="1">
                <a:solidFill>
                  <a:srgbClr val="FFFFFF"/>
                </a:solidFill>
                <a:latin typeface="Segoe UI"/>
              </a:defRPr>
            </a:pPr>
            <a:r>
              <a:t>Tudo o que voce precisa.</a:t>
            </a:r>
            <a:br/>
            <a:r>
              <a:t>Em um unico lugar.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600"/>
              </a:lnSpc>
              <a:defRPr sz="1700" b="0">
                <a:solidFill>
                  <a:srgbClr val="94A3B8"/>
                </a:solidFill>
                <a:latin typeface="Segoe UI"/>
              </a:defRPr>
            </a:pPr>
            <a:r>
              <a:t>Contas, transacoes, investimentos, projecoes e um assistente</a:t>
            </a:r>
            <a:br/>
            <a:r>
              <a:t>com inteligencia artificial — integrados numa plataforma moderna e gratuita.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Controle completo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11480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411480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Projecao de fluxo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411480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Investimentos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Assistente 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66344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466344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Importacao inteligente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66344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466344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KPIs e alertas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Tetos de orcamento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521208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0" y="521208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Fechamento mensal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212080"/>
            <a:ext cx="24688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24688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34D399"/>
                </a:solidFill>
                <a:latin typeface="Segoe UI"/>
              </a:defRPr>
            </a:pPr>
            <a:r>
              <a:t>✓  Deteccao de padroes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0F172A"/>
                </a:solidFill>
                <a:latin typeface="Segoe UI"/>
              </a:defRPr>
            </a:pPr>
            <a:r>
              <a:t>Uma plataforma, seis pilares.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Controle Financeiro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8346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50" b="0">
                <a:solidFill>
                  <a:srgbClr val="475569"/>
                </a:solidFill>
                <a:latin typeface="Segoe UI"/>
              </a:defRPr>
            </a:pPr>
            <a:r>
              <a:t>Contas, cartoes e carteiras. Transacoes com categorias, filtro mensal e saldo em tempo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54880" y="1737360"/>
            <a:ext cx="502920" cy="5029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75564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Importacao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28346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50" b="0">
                <a:solidFill>
                  <a:srgbClr val="475569"/>
                </a:solidFill>
                <a:latin typeface="Segoe UI"/>
              </a:defRPr>
            </a:pPr>
            <a:r>
              <a:t>Importe extratos OFX, CSV ou PDF. PDFs de faturas sao extraidos automaticamente por IA (Gemini). Deteccao de duplicatas e categorizacao automatica.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03920" y="1737360"/>
            <a:ext cx="502920" cy="5029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75564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Transacoes Planejadas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60"/>
            <a:ext cx="28346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50" b="0">
                <a:solidFill>
                  <a:srgbClr val="475569"/>
                </a:solidFill>
                <a:latin typeface="Segoe UI"/>
              </a:defRPr>
            </a:pPr>
            <a:r>
              <a:t>Recorrentes, pontuais e com periodo. Deteccao automatica de padroes nos seus gastos para criar recorrentes.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160520"/>
            <a:ext cx="502920" cy="5029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17880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Fluxo e Orcamento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28346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50" b="0">
                <a:solidFill>
                  <a:srgbClr val="475569"/>
                </a:solidFill>
                <a:latin typeface="Segoe UI"/>
              </a:defRPr>
            </a:pPr>
            <a:r>
              <a:t>Fluxo Diario e Previsto. KPIs financeiros, tetos de orcamento por categoria e alertas automaticos.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93192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754880" y="4160520"/>
            <a:ext cx="502920" cy="5029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417880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7548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Investimentos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074920"/>
            <a:ext cx="28346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50" b="0">
                <a:solidFill>
                  <a:srgbClr val="475569"/>
                </a:solidFill>
                <a:latin typeface="Segoe UI"/>
              </a:defRPr>
            </a:pPr>
            <a:r>
              <a:t>Carteira com aportes, resgates e saldos. Evolucao mensal e retorno real descontando inflacao (IPCA).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931920"/>
            <a:ext cx="33832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503920" y="4160520"/>
            <a:ext cx="502920" cy="502920"/>
          </a:xfrm>
          <a:prstGeom prst="ellipse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4178808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059669"/>
                </a:solidFill>
                <a:latin typeface="Segoe UI"/>
              </a:defRPr>
            </a:pPr>
            <a: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5488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Assistente com 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5074920"/>
            <a:ext cx="28346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150" b="0">
                <a:solidFill>
                  <a:srgbClr val="475569"/>
                </a:solidFill>
                <a:latin typeface="Segoe UI"/>
              </a:defRPr>
            </a:pPr>
            <a:r>
              <a:t>Chat com Gemini que analisa seus dados reais. Insights proativos e fechamento mensal guiado.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00"/>
              </a:lnSpc>
              <a:defRPr sz="3600" b="1">
                <a:solidFill>
                  <a:srgbClr val="FFFFFF"/>
                </a:solidFill>
                <a:latin typeface="Segoe UI"/>
              </a:defRPr>
            </a:pPr>
            <a:r>
              <a:t>Um assistente</a:t>
            </a:r>
            <a:br/>
            <a:r>
              <a:t>que entende</a:t>
            </a:r>
            <a:br/>
            <a:r>
              <a:t>suas financas.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389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400" b="0">
                <a:solidFill>
                  <a:srgbClr val="94A3B8"/>
                </a:solidFill>
                <a:latin typeface="Segoe UI"/>
              </a:defRPr>
            </a:pPr>
            <a:r>
              <a:t>O FinAssist analisa suas contas, transacoes, recorrentes e investimentos em tempo real para entregar diagnosticos personalizados — nao respostas genericas.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Powered by Gemini 2.5 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7315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64748B"/>
                </a:solidFill>
                <a:latin typeface="Segoe UI"/>
              </a:defRPr>
            </a:pPr>
            <a:r>
              <a:t>Pergunte qualquer coisa: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02920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4572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0">
                <a:solidFill>
                  <a:srgbClr val="334155"/>
                </a:solidFill>
                <a:latin typeface="Segoe UI"/>
              </a:defRPr>
            </a:pPr>
            <a:r>
              <a:t>"Como esta minha saude financeira?"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02920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572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0">
                <a:solidFill>
                  <a:srgbClr val="334155"/>
                </a:solidFill>
                <a:latin typeface="Segoe UI"/>
              </a:defRPr>
            </a:pPr>
            <a:r>
              <a:t>"Minhas despesas estao controladas?"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26080"/>
            <a:ext cx="502920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926080"/>
            <a:ext cx="4572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0">
                <a:solidFill>
                  <a:srgbClr val="334155"/>
                </a:solidFill>
                <a:latin typeface="Segoe UI"/>
              </a:defRPr>
            </a:pPr>
            <a:r>
              <a:t>"Minha carteira esta diversificada?"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03320"/>
            <a:ext cx="502920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4572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0">
                <a:solidFill>
                  <a:srgbClr val="334155"/>
                </a:solidFill>
                <a:latin typeface="Segoe UI"/>
              </a:defRPr>
            </a:pPr>
            <a:r>
              <a:t>"Quais categorias estouraram o teto?"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80560"/>
            <a:ext cx="502920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480560"/>
            <a:ext cx="4572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0">
                <a:solidFill>
                  <a:srgbClr val="334155"/>
                </a:solidFill>
                <a:latin typeface="Segoe UI"/>
              </a:defRPr>
            </a:pPr>
            <a:r>
              <a:t>"Tenho reserva de emergencia suficiente?"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257800"/>
            <a:ext cx="502920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5257800"/>
            <a:ext cx="45720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0">
                <a:solidFill>
                  <a:srgbClr val="334155"/>
                </a:solidFill>
                <a:latin typeface="Segoe UI"/>
              </a:defRPr>
            </a:pPr>
            <a:r>
              <a:t>"Como posso economizar mais?"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6035040"/>
            <a:ext cx="5029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6035040"/>
            <a:ext cx="45720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0">
                <a:solidFill>
                  <a:srgbClr val="475569"/>
                </a:solidFill>
                <a:latin typeface="Segoe UI"/>
              </a:defRPr>
            </a:pPr>
            <a:r>
              <a:t>↻  Mantem o contexto da conversa — faca perguntas de acompanhamento naturalmente.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 EVIDENCIA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Controlar financas funciona. Os numeros comprovam.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25146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5840" y="2514600"/>
            <a:ext cx="4572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59669"/>
                </a:solidFill>
                <a:latin typeface="Segoe UI"/>
              </a:defRPr>
            </a:pPr>
            <a:r>
              <a:t>88%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dos usuarios de apps</a:t>
            </a:r>
            <a:br/>
            <a:r>
              <a:t>financeiros consideram</a:t>
            </a:r>
            <a:br/>
            <a:r>
              <a:t>a ferramenta muito</a:t>
            </a:r>
            <a:br/>
            <a:r>
              <a:t>ou extremamente util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846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Academy Bank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5146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0" y="2514600"/>
            <a:ext cx="457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27889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3B82F6"/>
                </a:solidFill>
                <a:latin typeface="Segoe UI"/>
              </a:defRPr>
            </a:pPr>
            <a:r>
              <a:t>2,5x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520440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mais chance de</a:t>
            </a:r>
            <a:br/>
            <a:r>
              <a:t>poupar o suficiente</a:t>
            </a:r>
            <a:br/>
            <a:r>
              <a:t>para aposentadoria</a:t>
            </a:r>
            <a:br/>
            <a:r>
              <a:t>com planejamento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846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Ramsey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86000"/>
            <a:ext cx="25146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675120" y="2514600"/>
            <a:ext cx="4572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27889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059669"/>
                </a:solidFill>
                <a:latin typeface="Segoe UI"/>
              </a:defRPr>
            </a:pPr>
            <a:r>
              <a:t>+59%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20440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crescimento em</a:t>
            </a:r>
            <a:br/>
            <a:r>
              <a:t>instalacoes de apps</a:t>
            </a:r>
            <a:br/>
            <a:r>
              <a:t>financeiros na</a:t>
            </a:r>
            <a:br/>
            <a:r>
              <a:t>America Latina (2025)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46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TI Inside / Adjust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286000"/>
            <a:ext cx="251460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509760" y="2514600"/>
            <a:ext cx="4572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2788920"/>
            <a:ext cx="1965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59E0B"/>
                </a:solidFill>
                <a:latin typeface="Segoe UI"/>
              </a:defRPr>
            </a:pPr>
            <a: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520440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dos brasileiros</a:t>
            </a:r>
            <a:br/>
            <a:r>
              <a:t>admitem precisar</a:t>
            </a:r>
            <a:br/>
            <a:r>
              <a:t>de educacao</a:t>
            </a:r>
            <a:br/>
            <a:r>
              <a:t>financeira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846320"/>
            <a:ext cx="1965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Funpresp-Jud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OPORTUNIDADE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0F172A"/>
                </a:solidFill>
                <a:latin typeface="Segoe UI"/>
              </a:defRPr>
            </a:pPr>
            <a:r>
              <a:t>Um mercado enorme, com lacunas claras.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03120"/>
            <a:ext cx="5080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059669"/>
                </a:solidFill>
                <a:latin typeface="Segoe UI"/>
              </a:defRPr>
            </a:pPr>
            <a:r>
              <a:t>USD 21,4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Mercado global de apps</a:t>
            </a:r>
            <a:br/>
            <a:r>
              <a:t>financeiros em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508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B82F6"/>
                </a:solidFill>
                <a:latin typeface="Segoe UI"/>
              </a:defRPr>
            </a:pPr>
            <a:r>
              <a:t>42 milhoes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Brasileiros ja usam</a:t>
            </a:r>
            <a:br/>
            <a:r>
              <a:t>Open Finance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508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59E0B"/>
                </a:solidFill>
                <a:latin typeface="Segoe UI"/>
              </a:defRPr>
            </a:pPr>
            <a:r>
              <a:t>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15000"/>
            <a:ext cx="4114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300" b="0">
                <a:solidFill>
                  <a:srgbClr val="475569"/>
                </a:solidFill>
                <a:latin typeface="Segoe UI"/>
              </a:defRPr>
            </a:pPr>
            <a:r>
              <a:t>Dos bancarizados se veem</a:t>
            </a:r>
            <a:br/>
            <a:r>
              <a:t>gerindo financas so pelo celular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03120"/>
            <a:ext cx="5029200" cy="4114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FinApp preenche as lacunas: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50" b="0">
                <a:solidFill>
                  <a:srgbClr val="FFFFFF"/>
                </a:solidFill>
                <a:latin typeface="Segoe UI"/>
              </a:defRPr>
            </a:pPr>
            <a:r>
              <a:t>✓  Gratuito e completo — sem paywall em funcionalidades essenciais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38728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50" b="0">
                <a:solidFill>
                  <a:srgbClr val="FFFFFF"/>
                </a:solidFill>
                <a:latin typeface="Segoe UI"/>
              </a:defRPr>
            </a:pPr>
            <a:r>
              <a:t>✓  IA integrada no app — nao em canal separado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014216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50" b="0">
                <a:solidFill>
                  <a:srgbClr val="FFFFFF"/>
                </a:solidFill>
                <a:latin typeface="Segoe UI"/>
              </a:defRPr>
            </a:pPr>
            <a:r>
              <a:t>✓  Importacao OFX, CSV e PDF com IA — 3 formatos, nao apenas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489704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50" b="0">
                <a:solidFill>
                  <a:srgbClr val="FFFFFF"/>
                </a:solidFill>
                <a:latin typeface="Segoe UI"/>
              </a:defRPr>
            </a:pPr>
            <a:r>
              <a:t>✓  KPIs, tetos e alertas — orcamento ativo, nao passivo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965192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50" b="0">
                <a:solidFill>
                  <a:srgbClr val="FFFFFF"/>
                </a:solidFill>
                <a:latin typeface="Segoe UI"/>
              </a:defRPr>
            </a:pPr>
            <a:r>
              <a:t>✓  Investimentos na mesma plataforma — nao em app a parte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4406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50" b="0">
                <a:solidFill>
                  <a:srgbClr val="FFFFFF"/>
                </a:solidFill>
                <a:latin typeface="Segoe UI"/>
              </a:defRPr>
            </a:pPr>
            <a:r>
              <a:t>✓  Fechamento mensal e deteccao de padroes — inteligencia proativa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D1FAE5"/>
                </a:solidFill>
                <a:latin typeface="Segoe UI"/>
              </a:defRPr>
            </a:pPr>
            <a:r>
              <a:t>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Por que FinApp?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3291840" cy="3200400"/>
          </a:xfrm>
          <a:prstGeom prst="roundRect">
            <a:avLst/>
          </a:prstGeom>
          <a:solidFill>
            <a:srgbClr val="04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Completo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29000"/>
            <a:ext cx="731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560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D1FAE5"/>
                </a:solidFill>
                <a:latin typeface="Segoe UI"/>
              </a:defRPr>
            </a:pPr>
            <a:r>
              <a:t>Contas + Transacoes + Recorrentes +</a:t>
            </a:r>
            <a:br/>
            <a:r>
              <a:t>Investimentos + Fluxo + IA</a:t>
            </a:r>
            <a:br/>
            <a:r>
              <a:t>Importacao OFX, CSV e PDF</a:t>
            </a:r>
            <a:br/>
            <a:br/>
            <a:r>
              <a:t>Tudo integrado, sem fragmentacao.</a:t>
            </a:r>
            <a:br/>
            <a:r>
              <a:t>Sem precisar de 3 apps diferentes.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560320"/>
            <a:ext cx="3291840" cy="3200400"/>
          </a:xfrm>
          <a:prstGeom prst="roundRect">
            <a:avLst/>
          </a:prstGeom>
          <a:solidFill>
            <a:srgbClr val="04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2880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Inteligente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3429000"/>
            <a:ext cx="731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3657600"/>
            <a:ext cx="2560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D1FAE5"/>
                </a:solidFill>
                <a:latin typeface="Segoe UI"/>
              </a:defRPr>
            </a:pPr>
            <a:r>
              <a:t>Assistente IA com dados reais.</a:t>
            </a:r>
            <a:br/>
            <a:r>
              <a:t>5 KPIs, insights proativos,</a:t>
            </a:r>
            <a:br/>
            <a:r>
              <a:t>tetos de orcamento e alertas.</a:t>
            </a:r>
            <a:br/>
            <a:r>
              <a:t>Deteccao de recorrencias e</a:t>
            </a:r>
            <a:br/>
            <a:r>
              <a:t>fechamento mensal guiado.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60320"/>
            <a:ext cx="3291840" cy="3200400"/>
          </a:xfrm>
          <a:prstGeom prst="roundRect">
            <a:avLst/>
          </a:prstGeom>
          <a:solidFill>
            <a:srgbClr val="04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288036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Acessivel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3429000"/>
            <a:ext cx="7315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3657600"/>
            <a:ext cx="2560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>
                <a:solidFill>
                  <a:srgbClr val="D1FAE5"/>
                </a:solidFill>
                <a:latin typeface="Segoe UI"/>
              </a:defRPr>
            </a:pPr>
            <a:r>
              <a:t>Interface moderna e intuitiva.</a:t>
            </a:r>
            <a:br/>
            <a:r>
              <a:t>Gratuito e sem paywall.</a:t>
            </a:r>
            <a:br/>
            <a:br/>
            <a:r>
              <a:t>Funcionalidades que custam</a:t>
            </a:r>
            <a:br/>
            <a:r>
              <a:t>R$ 35/mes em outros apps.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600"/>
              </a:lnSpc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Assuma o controle</a:t>
            </a:r>
            <a:br/>
            <a:r>
              <a:t>das suas financas.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>
                <a:solidFill>
                  <a:srgbClr val="34D399"/>
                </a:solidFill>
                <a:latin typeface="Segoe UI"/>
              </a:defRPr>
            </a:pPr>
            <a:r>
              <a:t>Comece hoje. E gratuito.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3200400" cy="6858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320040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Conheca o FinApp  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52160"/>
            <a:ext cx="1097280" cy="2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FinApp  |  Gestao Financeira Pessoal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1094</Words>
  <Application>Microsoft Office PowerPoint</Application>
  <PresentationFormat>Widescreen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Rodrigo Coutinho</cp:lastModifiedBy>
  <cp:revision>2</cp:revision>
  <dcterms:created xsi:type="dcterms:W3CDTF">2013-01-27T09:14:16Z</dcterms:created>
  <dcterms:modified xsi:type="dcterms:W3CDTF">2026-02-27T20:29:41Z</dcterms:modified>
  <cp:category/>
</cp:coreProperties>
</file>