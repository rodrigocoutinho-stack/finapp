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097280"/>
            <a:ext cx="4572000" cy="45720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4754880"/>
            <a:ext cx="3200400" cy="32004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2286000" cy="22860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463040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1">
                <a:solidFill>
                  <a:srgbClr val="10B981"/>
                </a:solidFill>
                <a:latin typeface="Segoe UI"/>
              </a:defRPr>
            </a:pPr>
            <a:r>
              <a:t>FinApp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560320"/>
            <a:ext cx="2286000" cy="381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74320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Segoe UI"/>
              </a:defRPr>
            </a:pPr>
            <a:r>
              <a:t>Gestao financeira pessoal inteligente.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20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Segoe UI"/>
              </a:defRPr>
            </a:pPr>
            <a:r>
              <a:t>Controle completo. Projecoes reais. Assistente com IA. Gratuito.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4343400"/>
            <a:ext cx="1645920" cy="4114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343400"/>
            <a:ext cx="1645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Gratuito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6035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Segoe UI"/>
              </a:defRPr>
            </a:pPr>
            <a:r>
              <a:t>Marco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F43F5E"/>
                </a:solidFill>
                <a:latin typeface="Segoe UI"/>
              </a:defRPr>
            </a:pPr>
            <a:r>
              <a:t>O CENARIO ATUAL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Segoe UI"/>
              </a:defRPr>
            </a:pPr>
            <a:r>
              <a:t>Metade do Brasil esta no vermelho.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4748B"/>
                </a:solidFill>
                <a:latin typeface="Segoe UI"/>
              </a:defRPr>
            </a:pPr>
            <a:r>
              <a:t>Inadimplencia bate recorde. Dividas crescem. E a maioria nao sabe como sair.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26080"/>
            <a:ext cx="338328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" y="3108960"/>
            <a:ext cx="548640" cy="50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291840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43F5E"/>
                </a:solidFill>
                <a:latin typeface="Segoe UI"/>
              </a:defRPr>
            </a:pPr>
            <a:r>
              <a:t>81 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069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00"/>
              </a:lnSpc>
              <a:defRPr sz="1250" b="0">
                <a:solidFill>
                  <a:srgbClr val="475569"/>
                </a:solidFill>
                <a:latin typeface="Segoe UI"/>
              </a:defRPr>
            </a:pPr>
            <a:r>
              <a:t>de brasileiros inadimplentes</a:t>
            </a:r>
            <a:br/>
            <a:r>
              <a:t>— recorde historico</a:t>
            </a:r>
            <a:br/>
            <a:r>
              <a:t>em dezembro de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4406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Segoe UI"/>
              </a:defRPr>
            </a:pPr>
            <a:r>
              <a:t>Serasa, Dez/2025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2926080"/>
            <a:ext cx="338328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54880" y="3108960"/>
            <a:ext cx="54864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3291840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59E0B"/>
                </a:solidFill>
                <a:latin typeface="Segoe UI"/>
              </a:defRPr>
            </a:pPr>
            <a:r>
              <a:t>77,5%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4069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00"/>
              </a:lnSpc>
              <a:defRPr sz="1250" b="0">
                <a:solidFill>
                  <a:srgbClr val="475569"/>
                </a:solidFill>
                <a:latin typeface="Segoe UI"/>
              </a:defRPr>
            </a:pPr>
            <a:r>
              <a:t>das familias brasileiras</a:t>
            </a:r>
            <a:br/>
            <a:r>
              <a:t>estao endividadas</a:t>
            </a:r>
            <a:br/>
            <a:r>
              <a:t>no inicio de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54406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Segoe UI"/>
              </a:defRPr>
            </a:pPr>
            <a:r>
              <a:t>CNC / Agencia Brasil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926080"/>
            <a:ext cx="338328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3108960"/>
            <a:ext cx="54864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3291840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3B82F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069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00"/>
              </a:lnSpc>
              <a:defRPr sz="1250" b="0">
                <a:solidFill>
                  <a:srgbClr val="475569"/>
                </a:solidFill>
                <a:latin typeface="Segoe UI"/>
              </a:defRPr>
            </a:pPr>
            <a:r>
              <a:t>dos brasileiros nao</a:t>
            </a:r>
            <a:br/>
            <a:r>
              <a:t>controlam o proprio</a:t>
            </a:r>
            <a:br/>
            <a:r>
              <a:t>orcamento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54406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Segoe UI"/>
              </a:defRPr>
            </a:pPr>
            <a:r>
              <a:t>CNDL/SPC Brasil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2636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94A3B8"/>
                </a:solidFill>
                <a:latin typeface="Segoe UI"/>
              </a:defRPr>
            </a:pPr>
            <a:r>
              <a:t>Fontes: Serasa (Dez/2025) | CNC/Agencia Brasil | CNDL/SPC Brasil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059669"/>
                </a:solidFill>
                <a:latin typeface="Segoe UI"/>
              </a:defRPr>
            </a:pPr>
            <a:r>
              <a:t>A RAIZ DO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F172A"/>
                </a:solidFill>
                <a:latin typeface="Segoe UI"/>
              </a:defRPr>
            </a:pPr>
            <a:r>
              <a:t>Por que as pessoas nao controlam suas financas?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20640" cy="169164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011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43F5E"/>
                </a:solidFill>
                <a:latin typeface="Segoe UI"/>
              </a:defRPr>
            </a:pPr>
            <a:r>
              <a:t>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99339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Segoe UI"/>
              </a:defRPr>
            </a:pPr>
            <a:r>
              <a:t>Nao sabem por onde comecar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423160"/>
            <a:ext cx="4114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00"/>
              </a:lnSpc>
              <a:defRPr sz="1150" b="0">
                <a:solidFill>
                  <a:srgbClr val="475569"/>
                </a:solidFill>
                <a:latin typeface="Segoe UI"/>
              </a:defRPr>
            </a:pPr>
            <a:r>
              <a:t>55% dos brasileiros entendem pouco ou nada sobre financas pessoais. 19% dos jovens adultos dizem nunca ter aprendido.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828800"/>
            <a:ext cx="5120640" cy="169164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011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99339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Segoe UI"/>
              </a:defRPr>
            </a:pPr>
            <a:r>
              <a:t>Falta de disciplina e continuidade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423160"/>
            <a:ext cx="4114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00"/>
              </a:lnSpc>
              <a:defRPr sz="1150" b="0">
                <a:solidFill>
                  <a:srgbClr val="475569"/>
                </a:solidFill>
                <a:latin typeface="Segoe UI"/>
              </a:defRPr>
            </a:pPr>
            <a:r>
              <a:t>Registrar gastos manualmente e tedioso. A maioria desiste em semanas. 36% dos que tentam usam caderno de papel ou planilha — e abandonam.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5120640" cy="16916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23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Segoe UI"/>
              </a:defRPr>
            </a:pPr>
            <a:r>
              <a:t>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00507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Segoe UI"/>
              </a:defRPr>
            </a:pPr>
            <a:r>
              <a:t>Ferramentas complexas e fragmentadas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434840"/>
            <a:ext cx="4114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00"/>
              </a:lnSpc>
              <a:defRPr sz="1150" b="0">
                <a:solidFill>
                  <a:srgbClr val="475569"/>
                </a:solidFill>
                <a:latin typeface="Segoe UI"/>
              </a:defRPr>
            </a:pPr>
            <a:r>
              <a:t>Gastos em um app, investimentos em outro, projecoes numa planilha. Nenhuma ferramenta centraliza tudo com clareza e sem curva de aprendizado.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840480"/>
            <a:ext cx="5120640" cy="1691640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4023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CF6"/>
                </a:solidFill>
                <a:latin typeface="Segoe UI"/>
              </a:defRPr>
            </a:pPr>
            <a:r>
              <a:t>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00507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Segoe UI"/>
              </a:defRPr>
            </a:pPr>
            <a:r>
              <a:t>Funcionalidades essenciais atras de paywall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4434840"/>
            <a:ext cx="4114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00"/>
              </a:lnSpc>
              <a:defRPr sz="1150" b="0">
                <a:solidFill>
                  <a:srgbClr val="475569"/>
                </a:solidFill>
                <a:latin typeface="Segoe UI"/>
              </a:defRPr>
            </a:pPr>
            <a:r>
              <a:t>Organizze cobra R$ 35/mes so para controle basico. Mobills exige plano PRO para IA. O usuario paga mas nao engaja.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2910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94A3B8"/>
                </a:solidFill>
                <a:latin typeface="Segoe UI"/>
              </a:defRPr>
            </a:pPr>
            <a:r>
              <a:t>Fontes: CNDL/SPC Brasil | FEBRABAN | Pesquisa de Educacao Financeira (ENEF)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059669"/>
                </a:solidFill>
                <a:latin typeface="Segoe UI"/>
              </a:defRPr>
            </a:pPr>
            <a:r>
              <a:t>O MERCADO HOJE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1323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Segoe UI"/>
              </a:defRPr>
            </a:pPr>
            <a:r>
              <a:t>Nenhuma ferramenta resolve o problema completo.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4748B"/>
                </a:solidFill>
                <a:latin typeface="Segoe UI"/>
              </a:defRPr>
            </a:pPr>
            <a:r>
              <a:t>Cada uma ataca um pedaco — o usuario fica sem visao integrada.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2606040" cy="39319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Segoe UI"/>
              </a:defRPr>
            </a:pPr>
            <a:r>
              <a:t>Mobills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2670048"/>
            <a:ext cx="2148840" cy="43891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70048"/>
            <a:ext cx="21488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Gratuito</a:t>
            </a:r>
            <a:br/>
            <a:r>
              <a:t>limitado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29184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F43F5E"/>
                </a:solidFill>
                <a:latin typeface="Segoe UI"/>
              </a:rPr>
              <a:t>✗  </a:t>
            </a:r>
            <a:r>
              <a:rPr sz="1100">
                <a:solidFill>
                  <a:srgbClr val="334155"/>
                </a:solidFill>
                <a:latin typeface="Segoe UI"/>
              </a:rPr>
              <a:t>IA so no plano PRO (R$ 25/mes)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43F5E"/>
                </a:solidFill>
                <a:latin typeface="Segoe UI"/>
              </a:rPr>
              <a:t>✗  </a:t>
            </a:r>
            <a:r>
              <a:rPr sz="1100">
                <a:solidFill>
                  <a:srgbClr val="334155"/>
                </a:solidFill>
                <a:latin typeface="Segoe UI"/>
              </a:rPr>
              <a:t>Investimentos em app separado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43F5E"/>
                </a:solidFill>
                <a:latin typeface="Segoe UI"/>
              </a:rPr>
              <a:t>✗  </a:t>
            </a:r>
            <a:r>
              <a:rPr sz="1100">
                <a:solidFill>
                  <a:srgbClr val="334155"/>
                </a:solidFill>
                <a:latin typeface="Segoe UI"/>
              </a:rPr>
              <a:t>Sem simuladores financeiros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43F5E"/>
                </a:solidFill>
                <a:latin typeface="Segoe UI"/>
              </a:rPr>
              <a:t>✗  </a:t>
            </a:r>
            <a:r>
              <a:rPr sz="1100">
                <a:solidFill>
                  <a:srgbClr val="334155"/>
                </a:solidFill>
                <a:latin typeface="Segoe UI"/>
              </a:rPr>
              <a:t>Sem Metas e Dividas integrados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1920240"/>
            <a:ext cx="2606040" cy="393192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2103120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Segoe UI"/>
              </a:defRPr>
            </a:pPr>
            <a:r>
              <a:t>Organizze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0" y="2670048"/>
            <a:ext cx="2148840" cy="438912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2670048"/>
            <a:ext cx="21488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R$ 35/mes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29184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F43F5E"/>
                </a:solidFill>
                <a:latin typeface="Segoe UI"/>
              </a:rPr>
              <a:t>✗  </a:t>
            </a:r>
            <a:r>
              <a:rPr sz="1100">
                <a:solidFill>
                  <a:srgbClr val="334155"/>
                </a:solidFill>
                <a:latin typeface="Segoe UI"/>
              </a:rPr>
              <a:t>Sem assistente IA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43F5E"/>
                </a:solidFill>
                <a:latin typeface="Segoe UI"/>
              </a:rPr>
              <a:t>✗  </a:t>
            </a:r>
            <a:r>
              <a:rPr sz="1100">
                <a:solidFill>
                  <a:srgbClr val="334155"/>
                </a:solidFill>
                <a:latin typeface="Segoe UI"/>
              </a:rPr>
              <a:t>Sem investimentos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43F5E"/>
                </a:solidFill>
                <a:latin typeface="Segoe UI"/>
              </a:rPr>
              <a:t>✗  </a:t>
            </a:r>
            <a:r>
              <a:rPr sz="1100">
                <a:solidFill>
                  <a:srgbClr val="334155"/>
                </a:solidFill>
                <a:latin typeface="Segoe UI"/>
              </a:rPr>
              <a:t>Sem importacao PDF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43F5E"/>
                </a:solidFill>
                <a:latin typeface="Segoe UI"/>
              </a:rPr>
              <a:t>✗  </a:t>
            </a:r>
            <a:r>
              <a:rPr sz="1100">
                <a:solidFill>
                  <a:srgbClr val="334155"/>
                </a:solidFill>
                <a:latin typeface="Segoe UI"/>
              </a:rPr>
              <a:t>Sem fluxo de caixa projetado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1920240"/>
            <a:ext cx="2606040" cy="39319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2103120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Segoe UI"/>
              </a:defRPr>
            </a:pPr>
            <a:r>
              <a:t>GuiaBolso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20840" y="2670048"/>
            <a:ext cx="2148840" cy="438912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2670048"/>
            <a:ext cx="21488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Encerrado</a:t>
            </a:r>
            <a:br/>
            <a:r>
              <a:t>em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29184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F43F5E"/>
                </a:solidFill>
                <a:latin typeface="Segoe UI"/>
              </a:rPr>
              <a:t>✗  </a:t>
            </a:r>
            <a:r>
              <a:rPr sz="1100">
                <a:solidFill>
                  <a:srgbClr val="334155"/>
                </a:solidFill>
                <a:latin typeface="Segoe UI"/>
              </a:rPr>
              <a:t>Descontinuado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43F5E"/>
                </a:solidFill>
                <a:latin typeface="Segoe UI"/>
              </a:rPr>
              <a:t>✗  </a:t>
            </a:r>
            <a:r>
              <a:rPr sz="1100">
                <a:solidFill>
                  <a:srgbClr val="334155"/>
                </a:solidFill>
                <a:latin typeface="Segoe UI"/>
              </a:rPr>
              <a:t>Usuarios perderam dados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43F5E"/>
                </a:solidFill>
                <a:latin typeface="Segoe UI"/>
              </a:rPr>
              <a:t>✗  </a:t>
            </a:r>
            <a:r>
              <a:rPr sz="1100">
                <a:solidFill>
                  <a:srgbClr val="334155"/>
                </a:solidFill>
                <a:latin typeface="Segoe UI"/>
              </a:rPr>
              <a:t>Confianca destruida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43F5E"/>
                </a:solidFill>
                <a:latin typeface="Segoe UI"/>
              </a:rPr>
              <a:t>✗  </a:t>
            </a:r>
            <a:r>
              <a:rPr sz="1100">
                <a:solidFill>
                  <a:srgbClr val="334155"/>
                </a:solidFill>
                <a:latin typeface="Segoe UI"/>
              </a:rPr>
              <a:t>Sem suporte ou atualizacoes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72600" y="1920240"/>
            <a:ext cx="2606040" cy="39319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0" y="2103120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Segoe UI"/>
              </a:defRPr>
            </a:pPr>
            <a:r>
              <a:t>Minhas Economias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0" y="2670048"/>
            <a:ext cx="2148840" cy="43891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0" y="2670048"/>
            <a:ext cx="21488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Gratuito</a:t>
            </a:r>
            <a:br/>
            <a:r>
              <a:t>(muito limitado)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329184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F43F5E"/>
                </a:solidFill>
                <a:latin typeface="Segoe UI"/>
              </a:rPr>
              <a:t>✗  </a:t>
            </a:r>
            <a:r>
              <a:rPr sz="1100">
                <a:solidFill>
                  <a:srgbClr val="334155"/>
                </a:solidFill>
                <a:latin typeface="Segoe UI"/>
              </a:rPr>
              <a:t>Interface desatualizada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43F5E"/>
                </a:solidFill>
                <a:latin typeface="Segoe UI"/>
              </a:rPr>
              <a:t>✗  </a:t>
            </a:r>
            <a:r>
              <a:rPr sz="1100">
                <a:solidFill>
                  <a:srgbClr val="334155"/>
                </a:solidFill>
                <a:latin typeface="Segoe UI"/>
              </a:rPr>
              <a:t>Sem IA ou projecoes reais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43F5E"/>
                </a:solidFill>
                <a:latin typeface="Segoe UI"/>
              </a:rPr>
              <a:t>✗  </a:t>
            </a:r>
            <a:r>
              <a:rPr sz="1100">
                <a:solidFill>
                  <a:srgbClr val="334155"/>
                </a:solidFill>
                <a:latin typeface="Segoe UI"/>
              </a:rPr>
              <a:t>Instabilidade frequente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43F5E"/>
                </a:solidFill>
                <a:latin typeface="Segoe UI"/>
              </a:rPr>
              <a:t>✗  </a:t>
            </a:r>
            <a:r>
              <a:rPr sz="1100">
                <a:solidFill>
                  <a:srgbClr val="334155"/>
                </a:solidFill>
                <a:latin typeface="Segoe UI"/>
              </a:rPr>
              <a:t>Sem metas nem simuladores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989320"/>
            <a:ext cx="10515600" cy="5486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989320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Segoe UI"/>
              </a:defRPr>
            </a:pPr>
            <a:r>
              <a:t>  Nenhum oferece: IA integrada + Metas + Dividas + Simuladores + Importacao PDF + Plano gratuito completo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059669"/>
                </a:solidFill>
                <a:latin typeface="Segoe UI"/>
              </a:defRPr>
            </a:pPr>
            <a:r>
              <a:t>COMPARATIVO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F172A"/>
                </a:solidFill>
                <a:latin typeface="Segoe UI"/>
              </a:defRPr>
            </a:pPr>
            <a:r>
              <a:t>FinApp vs. concorrentes: funcionalidade por funcionalidade.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042416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30175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50" b="1">
                <a:solidFill>
                  <a:srgbClr val="FFFFFF"/>
                </a:solidFill>
                <a:latin typeface="Segoe UI"/>
              </a:defRPr>
            </a:pPr>
            <a:r>
              <a:t>Funcionalidade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325880"/>
            <a:ext cx="43891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50" b="1">
                <a:solidFill>
                  <a:srgbClr val="94A3B8"/>
                </a:solidFill>
                <a:latin typeface="Segoe UI"/>
              </a:defRPr>
            </a:pPr>
            <a:r>
              <a:t>Concorrentes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325880"/>
            <a:ext cx="30175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50" b="1">
                <a:solidFill>
                  <a:srgbClr val="34D399"/>
                </a:solidFill>
                <a:latin typeface="Segoe UI"/>
              </a:defRPr>
            </a:pPr>
            <a:r>
              <a:t>FinApp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01368"/>
            <a:ext cx="7406640" cy="40233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1801368"/>
            <a:ext cx="3017520" cy="402336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01368"/>
            <a:ext cx="28803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Segoe UI"/>
              </a:defRPr>
            </a:pPr>
            <a:r>
              <a:t>Plano gratuito completo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801368"/>
            <a:ext cx="43891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64748B"/>
                </a:solidFill>
                <a:latin typeface="Segoe UI"/>
              </a:defRPr>
            </a:pPr>
            <a:r>
              <a:t>Limitado ou pago (R$ 8–35/mes)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1801368"/>
            <a:ext cx="30175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✓  Sim, sem restricoes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203704"/>
            <a:ext cx="74066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2203704"/>
            <a:ext cx="3017520" cy="40233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203704"/>
            <a:ext cx="28803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Segoe UI"/>
              </a:defRPr>
            </a:pPr>
            <a:r>
              <a:t>Assistente com 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203704"/>
            <a:ext cx="43891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64748B"/>
                </a:solidFill>
                <a:latin typeface="Segoe UI"/>
              </a:defRPr>
            </a:pPr>
            <a:r>
              <a:t>So Mobills (WhatsApp, plano PRO)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203704"/>
            <a:ext cx="30175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✓  Chat integrado (Gemini)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606040"/>
            <a:ext cx="7406640" cy="40233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2606040"/>
            <a:ext cx="3017520" cy="402336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606040"/>
            <a:ext cx="28803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Segoe UI"/>
              </a:defRPr>
            </a:pPr>
            <a:r>
              <a:t>Importacao OFX / CSV / PDF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2606040"/>
            <a:ext cx="43891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64748B"/>
                </a:solidFill>
                <a:latin typeface="Segoe UI"/>
              </a:defRPr>
            </a:pPr>
            <a:r>
              <a:t>Parcial (so OFX, so plano pago)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606040"/>
            <a:ext cx="30175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✓  3 formatos + IA no PDF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008376"/>
            <a:ext cx="74066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46720" y="3008376"/>
            <a:ext cx="3017520" cy="40233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008376"/>
            <a:ext cx="28803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Segoe UI"/>
              </a:defRPr>
            </a:pPr>
            <a:r>
              <a:t>KPIs e alertas inteligentes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3008376"/>
            <a:ext cx="43891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64748B"/>
                </a:solidFill>
                <a:latin typeface="Segoe UI"/>
              </a:defRPr>
            </a:pPr>
            <a:r>
              <a:t>Ausente ou basico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3008376"/>
            <a:ext cx="30175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✓  5 KPIs + insights proativos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410712"/>
            <a:ext cx="7406640" cy="40233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410712"/>
            <a:ext cx="3017520" cy="402336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410712"/>
            <a:ext cx="28803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Segoe UI"/>
              </a:defRPr>
            </a:pPr>
            <a:r>
              <a:t>Tetos de orcamento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3410712"/>
            <a:ext cx="43891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64748B"/>
                </a:solidFill>
                <a:latin typeface="Segoe UI"/>
              </a:defRPr>
            </a:pPr>
            <a:r>
              <a:t>Ausente ou rigido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3410712"/>
            <a:ext cx="30175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✓  Por categoria + alertas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3813048"/>
            <a:ext cx="74066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46720" y="3813048"/>
            <a:ext cx="3017520" cy="40233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3813048"/>
            <a:ext cx="28803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Segoe UI"/>
              </a:defRPr>
            </a:pPr>
            <a:r>
              <a:t>Metas financeiras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0" y="3813048"/>
            <a:ext cx="43891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64748B"/>
                </a:solidFill>
                <a:latin typeface="Segoe UI"/>
              </a:defRPr>
            </a:pPr>
            <a:r>
              <a:t>Ausente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3813048"/>
            <a:ext cx="30175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✓  CRUD + progresso + prazo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215384"/>
            <a:ext cx="7406640" cy="40233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46720" y="4215384"/>
            <a:ext cx="3017520" cy="402336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4215384"/>
            <a:ext cx="28803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Segoe UI"/>
              </a:defRPr>
            </a:pPr>
            <a:r>
              <a:t>Gestao de dividas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0" y="4215384"/>
            <a:ext cx="43891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64748B"/>
                </a:solidFill>
                <a:latin typeface="Segoe UI"/>
              </a:defRPr>
            </a:pPr>
            <a:r>
              <a:t>Ausente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0" y="4215384"/>
            <a:ext cx="30175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✓  CRUD + simulador de quitacao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4617720"/>
            <a:ext cx="74066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0" y="4617720"/>
            <a:ext cx="3017520" cy="40233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4617720"/>
            <a:ext cx="28803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Segoe UI"/>
              </a:defRPr>
            </a:pPr>
            <a:r>
              <a:t>Simuladores educacionais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0" y="4617720"/>
            <a:ext cx="43891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64748B"/>
                </a:solidFill>
                <a:latin typeface="Segoe UI"/>
              </a:defRPr>
            </a:pPr>
            <a:r>
              <a:t>Ausente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0" y="4617720"/>
            <a:ext cx="30175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✓  4 simuladores interativos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" y="5020056"/>
            <a:ext cx="7406640" cy="40233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046720" y="5020056"/>
            <a:ext cx="3017520" cy="402336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5020056"/>
            <a:ext cx="28803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Segoe UI"/>
              </a:defRPr>
            </a:pPr>
            <a:r>
              <a:t>Fluxo de caixa projetado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0" y="5020056"/>
            <a:ext cx="43891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64748B"/>
                </a:solidFill>
                <a:latin typeface="Segoe UI"/>
              </a:defRPr>
            </a:pPr>
            <a:r>
              <a:t>Basico ou ausente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46720" y="5020056"/>
            <a:ext cx="30175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✓  Diario + Previsto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5422392"/>
            <a:ext cx="74066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046720" y="5422392"/>
            <a:ext cx="3017520" cy="40233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7240" y="5422392"/>
            <a:ext cx="28803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Segoe UI"/>
              </a:defRPr>
            </a:pPr>
            <a:r>
              <a:t>Investimentos integrados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0" y="5422392"/>
            <a:ext cx="43891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64748B"/>
                </a:solidFill>
                <a:latin typeface="Segoe UI"/>
              </a:defRPr>
            </a:pPr>
            <a:r>
              <a:t>Ausente ou em app separado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46720" y="5422392"/>
            <a:ext cx="30175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✓  CRUD + evolucao + retorno real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080" y="5824728"/>
            <a:ext cx="7406640" cy="40233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46720" y="5824728"/>
            <a:ext cx="3017520" cy="402336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77240" y="5824728"/>
            <a:ext cx="28803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Segoe UI"/>
              </a:defRPr>
            </a:pPr>
            <a:r>
              <a:t>Historico de KPIs mensal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0" y="5824728"/>
            <a:ext cx="43891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64748B"/>
                </a:solidFill>
                <a:latin typeface="Segoe UI"/>
              </a:defRPr>
            </a:pPr>
            <a:r>
              <a:t>Ausente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0" y="5824728"/>
            <a:ext cx="30175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✓  Graficos + fechamento guiado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080" y="6227064"/>
            <a:ext cx="74066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046720" y="6227064"/>
            <a:ext cx="3017520" cy="40233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7240" y="6227064"/>
            <a:ext cx="28803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Segoe UI"/>
              </a:defRPr>
            </a:pPr>
            <a:r>
              <a:t>Deteccao automatica de padroes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0" y="6227064"/>
            <a:ext cx="43891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64748B"/>
                </a:solidFill>
                <a:latin typeface="Segoe UI"/>
              </a:defRPr>
            </a:pPr>
            <a:r>
              <a:t>Ausente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46720" y="6227064"/>
            <a:ext cx="30175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✓  Sugestao de recorrentes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26880" y="457200"/>
            <a:ext cx="4572000" cy="45720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5303520"/>
            <a:ext cx="2286000" cy="22860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11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4D399"/>
                </a:solidFill>
                <a:latin typeface="Segoe UI"/>
              </a:defRPr>
            </a:pPr>
            <a:r>
              <a:t>A SOLUCAO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600"/>
              </a:lnSpc>
              <a:defRPr sz="4400" b="1">
                <a:solidFill>
                  <a:srgbClr val="FFFFFF"/>
                </a:solidFill>
                <a:latin typeface="Segoe UI"/>
              </a:defRPr>
            </a:pPr>
            <a:r>
              <a:t>Tudo o que voce precisa.</a:t>
            </a:r>
            <a:br/>
            <a:r>
              <a:t>Em um unico lugar.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defRPr sz="1650" b="0">
                <a:solidFill>
                  <a:srgbClr val="94A3B8"/>
                </a:solidFill>
                <a:latin typeface="Segoe UI"/>
              </a:defRPr>
            </a:pPr>
            <a:r>
              <a:t>Contas, transacoes, investimentos, metas, dividas, simuladores</a:t>
            </a:r>
            <a:br/>
            <a:r>
              <a:t>e um assistente com inteligencia artificial — integrados numa</a:t>
            </a:r>
            <a:br/>
            <a:r>
              <a:t>plataforma moderna. Gratuita. Sem paywall.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114800"/>
            <a:ext cx="2651760" cy="402336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6517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Segoe UI"/>
              </a:defRPr>
            </a:pPr>
            <a:r>
              <a:t>✓  Controle completo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50208" y="4114800"/>
            <a:ext cx="2651760" cy="402336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50208" y="4114800"/>
            <a:ext cx="26517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Segoe UI"/>
              </a:defRPr>
            </a:pPr>
            <a:r>
              <a:t>✓  Importacao OFX/CSV/PDF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86016" y="4114800"/>
            <a:ext cx="2651760" cy="402336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86016" y="4114800"/>
            <a:ext cx="26517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Segoe UI"/>
              </a:defRPr>
            </a:pPr>
            <a:r>
              <a:t>✓  Transacoes planejadas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21824" y="4114800"/>
            <a:ext cx="2651760" cy="402336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21824" y="4114800"/>
            <a:ext cx="26517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Segoe UI"/>
              </a:defRPr>
            </a:pPr>
            <a:r>
              <a:t>✓  Orcamento com tetos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700016"/>
            <a:ext cx="2651760" cy="402336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700016"/>
            <a:ext cx="26517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Segoe UI"/>
              </a:defRPr>
            </a:pPr>
            <a:r>
              <a:t>✓  Metas financeiras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50208" y="4700016"/>
            <a:ext cx="2651760" cy="402336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50208" y="4700016"/>
            <a:ext cx="26517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Segoe UI"/>
              </a:defRPr>
            </a:pPr>
            <a:r>
              <a:t>✓  Gestao de dividas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86016" y="4700016"/>
            <a:ext cx="2651760" cy="402336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86016" y="4700016"/>
            <a:ext cx="26517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Segoe UI"/>
              </a:defRPr>
            </a:pPr>
            <a:r>
              <a:t>✓  Fluxo de caixa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21824" y="4700016"/>
            <a:ext cx="2651760" cy="402336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21824" y="4700016"/>
            <a:ext cx="26517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Segoe UI"/>
              </a:defRPr>
            </a:pPr>
            <a:r>
              <a:t>✓  Investimentos + IPCA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5285232"/>
            <a:ext cx="2651760" cy="402336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285232"/>
            <a:ext cx="26517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Segoe UI"/>
              </a:defRPr>
            </a:pPr>
            <a:r>
              <a:t>✓  Historico de KPIs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50208" y="5285232"/>
            <a:ext cx="2651760" cy="402336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50208" y="5285232"/>
            <a:ext cx="26517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Segoe UI"/>
              </a:defRPr>
            </a:pPr>
            <a:r>
              <a:t>✓  Assistente IA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86016" y="5285232"/>
            <a:ext cx="2651760" cy="402336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86016" y="5285232"/>
            <a:ext cx="26517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Segoe UI"/>
              </a:defRPr>
            </a:pPr>
            <a:r>
              <a:t>✓  4 Simuladores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21824" y="5285232"/>
            <a:ext cx="2651760" cy="402336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1824" y="5285232"/>
            <a:ext cx="26517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Segoe UI"/>
              </a:defRPr>
            </a:pPr>
            <a:r>
              <a:t>✓  Deteccao de padroes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059669"/>
                </a:solidFill>
                <a:latin typeface="Segoe UI"/>
              </a:defRPr>
            </a:pPr>
            <a:r>
              <a:t>MODULO 1 — CONTROLE E ORCAMENTO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Segoe UI"/>
              </a:defRPr>
            </a:pPr>
            <a:r>
              <a:t>Seu dinheiro, dia a dia — com clareza e sem esforco.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3832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709928"/>
            <a:ext cx="457200" cy="457200"/>
          </a:xfrm>
          <a:prstGeom prst="ellipse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170992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276856"/>
            <a:ext cx="2880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0F172A"/>
                </a:solidFill>
                <a:latin typeface="Segoe UI"/>
              </a:defRPr>
            </a:pPr>
            <a:r>
              <a:t>Contas e Transacoes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624328"/>
            <a:ext cx="2880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100" b="0">
                <a:solidFill>
                  <a:srgbClr val="475569"/>
                </a:solidFill>
                <a:latin typeface="Segoe UI"/>
              </a:defRPr>
            </a:pPr>
            <a:r>
              <a:t>Multiplas contas (banco, cartao, carteira). Saldo atualizado automaticamente. Historico paginado com busca e filtros avancados.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08760"/>
            <a:ext cx="33832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90872" y="1709928"/>
            <a:ext cx="457200" cy="457200"/>
          </a:xfrm>
          <a:prstGeom prst="ellipse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0872" y="170992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↑↓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2276856"/>
            <a:ext cx="2880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0F172A"/>
                </a:solidFill>
                <a:latin typeface="Segoe UI"/>
              </a:defRPr>
            </a:pPr>
            <a:r>
              <a:t>Importacao Inteligente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2624328"/>
            <a:ext cx="2880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100" b="0">
                <a:solidFill>
                  <a:srgbClr val="475569"/>
                </a:solidFill>
                <a:latin typeface="Segoe UI"/>
              </a:defRPr>
            </a:pPr>
            <a:r>
              <a:t>Importe OFX, CSV ou faturas PDF. Gemini extrai os dados automaticamente. Deteccao de duplicatas e auto-categorizacao por regras.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508760"/>
            <a:ext cx="33832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94192" y="1709928"/>
            <a:ext cx="457200" cy="457200"/>
          </a:xfrm>
          <a:prstGeom prst="ellipse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170992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2276856"/>
            <a:ext cx="2880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0F172A"/>
                </a:solidFill>
                <a:latin typeface="Segoe UI"/>
              </a:defRPr>
            </a:pPr>
            <a:r>
              <a:t>Orcamento por Categoria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624328"/>
            <a:ext cx="2880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100" b="0">
                <a:solidFill>
                  <a:srgbClr val="475569"/>
                </a:solidFill>
                <a:latin typeface="Segoe UI"/>
              </a:defRPr>
            </a:pPr>
            <a:r>
              <a:t>Tetos mensais por categoria de despesa. Badges de alerta (Atencao / Estourado) no Dashboard. Insights proativos baseados nos desvios.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050792"/>
            <a:ext cx="33832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87552" y="4251960"/>
            <a:ext cx="457200" cy="457200"/>
          </a:xfrm>
          <a:prstGeom prst="ellipse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" y="42519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4818888"/>
            <a:ext cx="2880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0F172A"/>
                </a:solidFill>
                <a:latin typeface="Segoe UI"/>
              </a:defRPr>
            </a:pPr>
            <a:r>
              <a:t>Transacoes Planejadas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5166360"/>
            <a:ext cx="2880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100" b="0">
                <a:solidFill>
                  <a:srgbClr val="475569"/>
                </a:solidFill>
                <a:latin typeface="Segoe UI"/>
              </a:defRPr>
            </a:pPr>
            <a:r>
              <a:t>Recorrentes sem prazo, pontuais ou com periodo. Deteccao automatica de padroes e sugestao de criar recorrentes.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34840" y="4050792"/>
            <a:ext cx="33832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690872" y="4251960"/>
            <a:ext cx="457200" cy="457200"/>
          </a:xfrm>
          <a:prstGeom prst="ellipse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90872" y="42519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2" y="4818888"/>
            <a:ext cx="2880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0F172A"/>
                </a:solidFill>
                <a:latin typeface="Segoe UI"/>
              </a:defRPr>
            </a:pPr>
            <a:r>
              <a:t>Dashboard com KPIs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2" y="5166360"/>
            <a:ext cx="2880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100" b="0">
                <a:solidFill>
                  <a:srgbClr val="475569"/>
                </a:solidFill>
                <a:latin typeface="Segoe UI"/>
              </a:defRPr>
            </a:pPr>
            <a:r>
              <a:t>5 indicadores-chave: taxa de poupanca, runway financeiro, reserva de emergencia, desvio orcamentario e percentual de gasto fixo.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4050792"/>
            <a:ext cx="33832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394192" y="4251960"/>
            <a:ext cx="457200" cy="457200"/>
          </a:xfrm>
          <a:prstGeom prst="ellipse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94192" y="42519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4818888"/>
            <a:ext cx="2880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0F172A"/>
                </a:solidFill>
                <a:latin typeface="Segoe UI"/>
              </a:defRPr>
            </a:pPr>
            <a:r>
              <a:t>Fluxo de Caixa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5166360"/>
            <a:ext cx="2880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100" b="0">
                <a:solidFill>
                  <a:srgbClr val="475569"/>
                </a:solidFill>
                <a:latin typeface="Segoe UI"/>
              </a:defRPr>
            </a:pPr>
            <a:r>
              <a:t>Fluxo Diario (dia a dia com saldo acumulado) e Fluxo Previsto (projecao de 4 meses). Ideal para evitar surpresas no fim do mes.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059669"/>
                </a:solidFill>
                <a:latin typeface="Segoe UI"/>
              </a:defRPr>
            </a:pPr>
            <a:r>
              <a:t>MODULO 2 — PLANEJAMENTO FINANCEIRO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Segoe UI"/>
              </a:defRPr>
            </a:pPr>
            <a:r>
              <a:t>De onde voce esta para onde quer chegar.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3566160" cy="50292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3566160" cy="635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Metas Financeiras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00"/>
              </a:lnSpc>
              <a:defRPr sz="1250" b="0">
                <a:solidFill>
                  <a:srgbClr val="475569"/>
                </a:solidFill>
                <a:latin typeface="Segoe UI"/>
              </a:defRPr>
            </a:pPr>
            <a:r>
              <a:t>Crie objetivos com prazo e valor alvo.</a:t>
            </a:r>
            <a:br/>
            <a:r>
              <a:t>Acompanhe o progresso com barra visual.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3017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059669"/>
                </a:solidFill>
                <a:latin typeface="Segoe UI"/>
              </a:rPr>
              <a:t>✓  </a:t>
            </a:r>
            <a:r>
              <a:rPr sz="1200">
                <a:solidFill>
                  <a:srgbClr val="334155"/>
                </a:solidFill>
                <a:latin typeface="Segoe UI"/>
              </a:rPr>
              <a:t>Vinculada a conta real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059669"/>
                </a:solidFill>
                <a:latin typeface="Segoe UI"/>
              </a:rPr>
              <a:t>✓  </a:t>
            </a:r>
            <a:r>
              <a:rPr sz="1200">
                <a:solidFill>
                  <a:srgbClr val="334155"/>
                </a:solidFill>
                <a:latin typeface="Segoe UI"/>
              </a:rPr>
              <a:t>Progresso automatico pelo saldo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059669"/>
                </a:solidFill>
                <a:latin typeface="Segoe UI"/>
              </a:rPr>
              <a:t>✓  </a:t>
            </a:r>
            <a:r>
              <a:rPr sz="1200">
                <a:solidFill>
                  <a:srgbClr val="334155"/>
                </a:solidFill>
                <a:latin typeface="Segoe UI"/>
              </a:rPr>
              <a:t>Aporte mensal necessario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059669"/>
                </a:solidFill>
                <a:latin typeface="Segoe UI"/>
              </a:rPr>
              <a:t>✓  </a:t>
            </a:r>
            <a:r>
              <a:rPr sz="1200">
                <a:solidFill>
                  <a:srgbClr val="334155"/>
                </a:solidFill>
                <a:latin typeface="Segoe UI"/>
              </a:rPr>
              <a:t>Widget no Dashboard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059669"/>
                </a:solidFill>
                <a:latin typeface="Segoe UI"/>
              </a:rPr>
              <a:t>✓  </a:t>
            </a:r>
            <a:r>
              <a:rPr sz="1200">
                <a:solidFill>
                  <a:srgbClr val="334155"/>
                </a:solidFill>
                <a:latin typeface="Segoe UI"/>
              </a:rPr>
              <a:t>Exemplos: viagem, carro, IF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508760"/>
            <a:ext cx="3566160" cy="50292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508760"/>
            <a:ext cx="3566160" cy="635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7373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43F5E"/>
                </a:solidFill>
                <a:latin typeface="Segoe UI"/>
              </a:defRPr>
            </a:pPr>
            <a:r>
              <a:t>Gestao de Dividas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28600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00"/>
              </a:lnSpc>
              <a:defRPr sz="1250" b="0">
                <a:solidFill>
                  <a:srgbClr val="475569"/>
                </a:solidFill>
                <a:latin typeface="Segoe UI"/>
              </a:defRPr>
            </a:pPr>
            <a:r>
              <a:t>Centralize emprestimos, financiamentos</a:t>
            </a:r>
            <a:br/>
            <a:r>
              <a:t>e cartoes parcelados em um lugar so.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063240"/>
            <a:ext cx="3017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✓  </a:t>
            </a:r>
            <a:r>
              <a:rPr sz="1200">
                <a:solidFill>
                  <a:srgbClr val="334155"/>
                </a:solidFill>
                <a:latin typeface="Segoe UI"/>
              </a:rPr>
              <a:t>Saldo devedor + parcelas restantes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✓  </a:t>
            </a:r>
            <a:r>
              <a:rPr sz="1200">
                <a:solidFill>
                  <a:srgbClr val="334155"/>
                </a:solidFill>
                <a:latin typeface="Segoe UI"/>
              </a:rPr>
              <a:t>Simulador de pagamento extra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✓  </a:t>
            </a:r>
            <a:r>
              <a:rPr sz="1200">
                <a:solidFill>
                  <a:srgbClr val="334155"/>
                </a:solidFill>
                <a:latin typeface="Segoe UI"/>
              </a:rPr>
              <a:t>Calculo de juros totais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✓  </a:t>
            </a:r>
            <a:r>
              <a:rPr sz="1200">
                <a:solidFill>
                  <a:srgbClr val="334155"/>
                </a:solidFill>
                <a:latin typeface="Segoe UI"/>
              </a:rPr>
              <a:t>Widget no Dashboard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✓  </a:t>
            </a:r>
            <a:r>
              <a:rPr sz="1200">
                <a:solidFill>
                  <a:srgbClr val="334155"/>
                </a:solidFill>
                <a:latin typeface="Segoe UI"/>
              </a:rPr>
              <a:t>Priorize a divida certa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508760"/>
            <a:ext cx="3566160" cy="5029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508760"/>
            <a:ext cx="3566160" cy="635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7373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CF6"/>
                </a:solidFill>
                <a:latin typeface="Segoe UI"/>
              </a:defRPr>
            </a:pPr>
            <a:r>
              <a:t>Simuladores Educacionais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28600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00"/>
              </a:lnSpc>
              <a:defRPr sz="1250" b="0">
                <a:solidFill>
                  <a:srgbClr val="475569"/>
                </a:solidFill>
                <a:latin typeface="Segoe UI"/>
              </a:defRPr>
            </a:pPr>
            <a:r>
              <a:t>4 calculadoras interativas para</a:t>
            </a:r>
            <a:br/>
            <a:r>
              <a:t>decisoes financeiras mais inteligentes.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063240"/>
            <a:ext cx="3017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8B5CF6"/>
                </a:solidFill>
                <a:latin typeface="Segoe UI"/>
              </a:rPr>
              <a:t>✓  </a:t>
            </a:r>
            <a:r>
              <a:rPr sz="1200">
                <a:solidFill>
                  <a:srgbClr val="334155"/>
                </a:solidFill>
                <a:latin typeface="Segoe UI"/>
              </a:rPr>
              <a:t>Juros Compostos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8B5CF6"/>
                </a:solidFill>
                <a:latin typeface="Segoe UI"/>
              </a:rPr>
              <a:t>✓  </a:t>
            </a:r>
            <a:r>
              <a:rPr sz="1200">
                <a:solidFill>
                  <a:srgbClr val="334155"/>
                </a:solidFill>
                <a:latin typeface="Segoe UI"/>
              </a:rPr>
              <a:t>Impacto da Inflacao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8B5CF6"/>
                </a:solidFill>
                <a:latin typeface="Segoe UI"/>
              </a:rPr>
              <a:t>✓  </a:t>
            </a:r>
            <a:r>
              <a:rPr sz="1200">
                <a:solidFill>
                  <a:srgbClr val="334155"/>
                </a:solidFill>
                <a:latin typeface="Segoe UI"/>
              </a:rPr>
              <a:t>Custo de Oportunidade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8B5CF6"/>
                </a:solidFill>
                <a:latin typeface="Segoe UI"/>
              </a:rPr>
              <a:t>✓  </a:t>
            </a:r>
            <a:r>
              <a:rPr sz="1200">
                <a:solidFill>
                  <a:srgbClr val="334155"/>
                </a:solidFill>
                <a:latin typeface="Segoe UI"/>
              </a:rPr>
              <a:t>Independencia Financeira (FIRE)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8B5CF6"/>
                </a:solidFill>
                <a:latin typeface="Segoe UI"/>
              </a:rPr>
              <a:t>✓  </a:t>
            </a:r>
            <a:r>
              <a:rPr sz="1200">
                <a:solidFill>
                  <a:srgbClr val="334155"/>
                </a:solidFill>
                <a:latin typeface="Segoe UI"/>
              </a:rPr>
              <a:t>Calculos em tempo real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059669"/>
                </a:solidFill>
                <a:latin typeface="Segoe UI"/>
              </a:defRPr>
            </a:pPr>
            <a:r>
              <a:t>MODULO 3 — INVESTIMENTOS E ANALISE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Segoe UI"/>
              </a:defRPr>
            </a:pPr>
            <a:r>
              <a:t>Patrimonio e evolucao financeira em um so painel.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53035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" y="1828800"/>
            <a:ext cx="640080" cy="508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9339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F172A"/>
                </a:solidFill>
                <a:latin typeface="Segoe UI"/>
              </a:defRPr>
            </a:pPr>
            <a:r>
              <a:t>Carteira de Investimentos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42032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250" b="0">
                <a:solidFill>
                  <a:srgbClr val="475569"/>
                </a:solidFill>
                <a:latin typeface="Segoe UI"/>
              </a:defRPr>
            </a:pPr>
            <a:r>
              <a:t>CDB, Tesouro Direto, Acoes, Cripto, Fundos — todos em um unico lugar. Aportes, resgates e atualizacoes de saldo. Quadro de evolucao mensal.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29000"/>
            <a:ext cx="4663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059669"/>
                </a:solidFill>
                <a:latin typeface="Segoe UI"/>
              </a:rPr>
              <a:t>✓  </a:t>
            </a:r>
            <a:r>
              <a:rPr sz="1250">
                <a:solidFill>
                  <a:srgbClr val="334155"/>
                </a:solidFill>
                <a:latin typeface="Segoe UI"/>
              </a:rPr>
              <a:t>Agrupamento por tipo de produto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059669"/>
                </a:solidFill>
                <a:latin typeface="Segoe UI"/>
              </a:rPr>
              <a:t>✓  </a:t>
            </a:r>
            <a:r>
              <a:rPr sz="1250">
                <a:solidFill>
                  <a:srgbClr val="334155"/>
                </a:solidFill>
                <a:latin typeface="Segoe UI"/>
              </a:rPr>
              <a:t>Historico de lancamentos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059669"/>
                </a:solidFill>
                <a:latin typeface="Segoe UI"/>
              </a:rPr>
              <a:t>✓  </a:t>
            </a:r>
            <a:r>
              <a:rPr sz="1250">
                <a:solidFill>
                  <a:srgbClr val="334155"/>
                </a:solidFill>
                <a:latin typeface="Segoe UI"/>
              </a:rPr>
              <a:t>Evolucao mensal (quadro visual)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059669"/>
                </a:solidFill>
                <a:latin typeface="Segoe UI"/>
              </a:rPr>
              <a:t>✓  </a:t>
            </a:r>
            <a:r>
              <a:rPr sz="1250">
                <a:solidFill>
                  <a:srgbClr val="334155"/>
                </a:solidFill>
                <a:latin typeface="Segoe UI"/>
              </a:rPr>
              <a:t>Retorno real descontando inflacao (IPCA 12 meses)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059669"/>
                </a:solidFill>
                <a:latin typeface="Segoe UI"/>
              </a:rPr>
              <a:t>✓  </a:t>
            </a:r>
            <a:r>
              <a:rPr sz="1250">
                <a:solidFill>
                  <a:srgbClr val="334155"/>
                </a:solidFill>
                <a:latin typeface="Segoe UI"/>
              </a:rPr>
              <a:t>Widget com saldo total no Dashboard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035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1828800"/>
            <a:ext cx="64008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99339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F172A"/>
                </a:solidFill>
                <a:latin typeface="Segoe UI"/>
              </a:defRPr>
            </a:pPr>
            <a:r>
              <a:t>Historico de KPIs Mensal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542032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250" b="0">
                <a:solidFill>
                  <a:srgbClr val="475569"/>
                </a:solidFill>
                <a:latin typeface="Segoe UI"/>
              </a:defRPr>
            </a:pPr>
            <a:r>
              <a:t>Acompanhe a evolucao financeira mes a mes. Cada fechamento mensal gera um snapshot automatico de todos os indicadores-chave.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429000"/>
            <a:ext cx="4663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3B82F6"/>
                </a:solidFill>
                <a:latin typeface="Segoe UI"/>
              </a:rPr>
              <a:t>✓  </a:t>
            </a:r>
            <a:r>
              <a:rPr sz="1250">
                <a:solidFill>
                  <a:srgbClr val="334155"/>
                </a:solidFill>
                <a:latin typeface="Segoe UI"/>
              </a:rPr>
              <a:t>Grafico Receitas vs Despesas vs Saldo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3B82F6"/>
                </a:solidFill>
                <a:latin typeface="Segoe UI"/>
              </a:rPr>
              <a:t>✓  </a:t>
            </a:r>
            <a:r>
              <a:rPr sz="1250">
                <a:solidFill>
                  <a:srgbClr val="334155"/>
                </a:solidFill>
                <a:latin typeface="Segoe UI"/>
              </a:rPr>
              <a:t>Grafico de saude financeira (taxa de poupanca)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3B82F6"/>
                </a:solidFill>
                <a:latin typeface="Segoe UI"/>
              </a:rPr>
              <a:t>✓  </a:t>
            </a:r>
            <a:r>
              <a:rPr sz="1250">
                <a:solidFill>
                  <a:srgbClr val="334155"/>
                </a:solidFill>
                <a:latin typeface="Segoe UI"/>
              </a:rPr>
              <a:t>Tabela comparativa mes a mes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3B82F6"/>
                </a:solidFill>
                <a:latin typeface="Segoe UI"/>
              </a:rPr>
              <a:t>✓  </a:t>
            </a:r>
            <a:r>
              <a:rPr sz="1250">
                <a:solidFill>
                  <a:srgbClr val="334155"/>
                </a:solidFill>
                <a:latin typeface="Segoe UI"/>
              </a:rPr>
              <a:t>Fechamento mensal guiado com sugestoes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3B82F6"/>
                </a:solidFill>
                <a:latin typeface="Segoe UI"/>
              </a:rPr>
              <a:t>✓  </a:t>
            </a:r>
            <a:r>
              <a:rPr sz="1250">
                <a:solidFill>
                  <a:srgbClr val="334155"/>
                </a:solidFill>
                <a:latin typeface="Segoe UI"/>
              </a:rPr>
              <a:t>Base para decisoes de medio prazo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0" y="4572000"/>
            <a:ext cx="3200400" cy="32004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94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4D399"/>
                </a:solidFill>
                <a:latin typeface="Segoe UI"/>
              </a:defRPr>
            </a:pPr>
            <a:r>
              <a:t>O DIFERENCIAL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8016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000"/>
              </a:lnSpc>
              <a:defRPr sz="3800" b="1">
                <a:solidFill>
                  <a:srgbClr val="FFFFFF"/>
                </a:solidFill>
                <a:latin typeface="Segoe UI"/>
              </a:defRPr>
            </a:pPr>
            <a:r>
              <a:t>Um assistente</a:t>
            </a:r>
            <a:br/>
            <a:r>
              <a:t>que conhece</a:t>
            </a:r>
            <a:br/>
            <a:r>
              <a:t>suas financas.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91840"/>
            <a:ext cx="457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350" b="0">
                <a:solidFill>
                  <a:srgbClr val="94A3B8"/>
                </a:solidFill>
                <a:latin typeface="Segoe UI"/>
              </a:defRPr>
            </a:pPr>
            <a:r>
              <a:t>O Assistente analisa suas contas, transacoes, recorrentes, investimentos e projecoes em tempo real — e responde com diagnosticos personalizados, nao respostas genericas.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572000"/>
            <a:ext cx="2560320" cy="384048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572000"/>
            <a:ext cx="25603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Powered by Gemini 2.5 Flash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94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64748B"/>
                </a:solidFill>
                <a:latin typeface="Segoe UI"/>
              </a:defRPr>
            </a:pPr>
            <a:r>
              <a:t>O usuario pergunta: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188720"/>
            <a:ext cx="5212080" cy="621792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188720"/>
            <a:ext cx="47548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50" b="0">
                <a:solidFill>
                  <a:srgbClr val="334155"/>
                </a:solidFill>
                <a:latin typeface="Segoe UI"/>
              </a:defRPr>
            </a:pPr>
            <a:r>
              <a:t>"Como esta minha saude financeira?"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993392"/>
            <a:ext cx="5212080" cy="621792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993392"/>
            <a:ext cx="47548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50" b="0">
                <a:solidFill>
                  <a:srgbClr val="334155"/>
                </a:solidFill>
                <a:latin typeface="Segoe UI"/>
              </a:defRPr>
            </a:pPr>
            <a:r>
              <a:t>"Minhas despesas estao controladas?"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2798064"/>
            <a:ext cx="5212080" cy="621792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798064"/>
            <a:ext cx="47548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50" b="0">
                <a:solidFill>
                  <a:srgbClr val="334155"/>
                </a:solidFill>
                <a:latin typeface="Segoe UI"/>
              </a:defRPr>
            </a:pPr>
            <a:r>
              <a:t>"Quais categorias estouraram o teto?"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602736"/>
            <a:ext cx="5212080" cy="621792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3602736"/>
            <a:ext cx="47548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50" b="0">
                <a:solidFill>
                  <a:srgbClr val="334155"/>
                </a:solidFill>
                <a:latin typeface="Segoe UI"/>
              </a:defRPr>
            </a:pPr>
            <a:r>
              <a:t>"Vale a pena quitar minha divida agora?"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407408"/>
            <a:ext cx="5212080" cy="621792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4407408"/>
            <a:ext cx="47548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50" b="0">
                <a:solidFill>
                  <a:srgbClr val="334155"/>
                </a:solidFill>
                <a:latin typeface="Segoe UI"/>
              </a:defRPr>
            </a:pPr>
            <a:r>
              <a:t>"Estou no caminho certo para minha meta?"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5212080"/>
            <a:ext cx="5212080" cy="621792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5212080"/>
            <a:ext cx="47548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50" b="0">
                <a:solidFill>
                  <a:srgbClr val="334155"/>
                </a:solidFill>
                <a:latin typeface="Segoe UI"/>
              </a:defRPr>
            </a:pPr>
            <a:r>
              <a:t>"Como posso economizar mais este mes?"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6126480"/>
            <a:ext cx="5212080" cy="4572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6126480"/>
            <a:ext cx="4846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Segoe UI"/>
              </a:defRPr>
            </a:pPr>
            <a:r>
              <a:t>↻  Mantem contexto conversacional — perguntas de acompanhamento naturais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059669"/>
                </a:solidFill>
                <a:latin typeface="Segoe UI"/>
              </a:defRPr>
            </a:pPr>
            <a:r>
              <a:t>A EVIDENCIA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F172A"/>
                </a:solidFill>
                <a:latin typeface="Segoe UI"/>
              </a:defRPr>
            </a:pPr>
            <a:r>
              <a:t>Controlar financas funciona. Os numeros comprovam.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265176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" y="2286000"/>
            <a:ext cx="548640" cy="508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059669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246120"/>
            <a:ext cx="2194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00"/>
              </a:lnSpc>
              <a:defRPr sz="1250" b="0">
                <a:solidFill>
                  <a:srgbClr val="475569"/>
                </a:solidFill>
                <a:latin typeface="Segoe UI"/>
              </a:defRPr>
            </a:pPr>
            <a:r>
              <a:t>dos usuarios de</a:t>
            </a:r>
            <a:br/>
            <a:r>
              <a:t>apps financeiros</a:t>
            </a:r>
            <a:br/>
            <a:r>
              <a:t>consideram a</a:t>
            </a:r>
            <a:br/>
            <a:r>
              <a:t>ferramenta muito</a:t>
            </a:r>
            <a:br/>
            <a:r>
              <a:t>ou extremamente util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1663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Segoe UI"/>
              </a:defRPr>
            </a:pPr>
            <a:r>
              <a:t>Academy Bank Research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2103120"/>
            <a:ext cx="265176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31920" y="2286000"/>
            <a:ext cx="54864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0" y="246888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3B82F6"/>
                </a:solidFill>
                <a:latin typeface="Segoe UI"/>
              </a:defRPr>
            </a:pPr>
            <a:r>
              <a:t>2,5x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3246120"/>
            <a:ext cx="2194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00"/>
              </a:lnSpc>
              <a:defRPr sz="1250" b="0">
                <a:solidFill>
                  <a:srgbClr val="475569"/>
                </a:solidFill>
                <a:latin typeface="Segoe UI"/>
              </a:defRPr>
            </a:pPr>
            <a:r>
              <a:t>mais chance de</a:t>
            </a:r>
            <a:br/>
            <a:r>
              <a:t>poupar o suficiente</a:t>
            </a:r>
            <a:br/>
            <a:r>
              <a:t>para a aposentadoria</a:t>
            </a:r>
            <a:br/>
            <a:r>
              <a:t>quem usa planejamento</a:t>
            </a:r>
            <a:br/>
            <a:r>
              <a:t>financeiro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51663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Segoe UI"/>
              </a:defRPr>
            </a:pPr>
            <a:r>
              <a:t>Ramsey Solutions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2103120"/>
            <a:ext cx="265176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0" y="2286000"/>
            <a:ext cx="548640" cy="508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246888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059669"/>
                </a:solidFill>
                <a:latin typeface="Segoe UI"/>
              </a:defRPr>
            </a:pPr>
            <a:r>
              <a:t>+59%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246120"/>
            <a:ext cx="2194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00"/>
              </a:lnSpc>
              <a:defRPr sz="1250" b="0">
                <a:solidFill>
                  <a:srgbClr val="475569"/>
                </a:solidFill>
                <a:latin typeface="Segoe UI"/>
              </a:defRPr>
            </a:pPr>
            <a:r>
              <a:t>crescimento em</a:t>
            </a:r>
            <a:br/>
            <a:r>
              <a:t>instalacoes de apps</a:t>
            </a:r>
            <a:br/>
            <a:r>
              <a:t>financeiros na</a:t>
            </a:r>
            <a:br/>
            <a:r>
              <a:t>America Latina</a:t>
            </a:r>
            <a:br/>
            <a:r>
              <a:t>em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51663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Segoe UI"/>
              </a:defRPr>
            </a:pPr>
            <a:r>
              <a:t>TI Inside / Adjust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9760" y="2103120"/>
            <a:ext cx="265176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84080" y="2286000"/>
            <a:ext cx="54864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0" y="246888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59E0B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3246120"/>
            <a:ext cx="2194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00"/>
              </a:lnSpc>
              <a:defRPr sz="1250" b="0">
                <a:solidFill>
                  <a:srgbClr val="475569"/>
                </a:solidFill>
                <a:latin typeface="Segoe UI"/>
              </a:defRPr>
            </a:pPr>
            <a:r>
              <a:t>dos brasileiros</a:t>
            </a:r>
            <a:br/>
            <a:r>
              <a:t>admitem precisar</a:t>
            </a:r>
            <a:br/>
            <a:r>
              <a:t>de mais educacao</a:t>
            </a:r>
            <a:br/>
            <a:r>
              <a:t>financeira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51663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Segoe UI"/>
              </a:defRPr>
            </a:pPr>
            <a:r>
              <a:t>Funpresp-Jud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852160"/>
            <a:ext cx="10515600" cy="62179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852160"/>
            <a:ext cx="1051560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34D399"/>
                </a:solidFill>
                <a:latin typeface="Segoe UI"/>
              </a:defRPr>
            </a:pPr>
            <a:r>
              <a:t>  O mercado de fintech pessoal cresce 2 digitos ao ano na America Latina. O usuario quer controle — faltava a ferramenta certa.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059669"/>
                </a:solidFill>
                <a:latin typeface="Segoe UI"/>
              </a:defRPr>
            </a:pPr>
            <a:r>
              <a:t>OPORTUNIDADE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F172A"/>
                </a:solidFill>
                <a:latin typeface="Segoe UI"/>
              </a:defRPr>
            </a:pPr>
            <a:r>
              <a:t>Um mercado enorme com lacunas claras.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63500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91640"/>
            <a:ext cx="4114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USD 21,4 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00"/>
              </a:lnSpc>
              <a:defRPr sz="1250" b="0">
                <a:solidFill>
                  <a:srgbClr val="475569"/>
                </a:solidFill>
                <a:latin typeface="Segoe UI"/>
              </a:defRPr>
            </a:pPr>
            <a:r>
              <a:t>Mercado global de apps</a:t>
            </a:r>
            <a:br/>
            <a:r>
              <a:t>financeiros pessoais em 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926080"/>
            <a:ext cx="63500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926080"/>
            <a:ext cx="4114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B82F6"/>
                </a:solidFill>
                <a:latin typeface="Segoe UI"/>
              </a:defRPr>
            </a:pPr>
            <a:r>
              <a:t>42 milhoes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00"/>
              </a:lnSpc>
              <a:defRPr sz="1250" b="0">
                <a:solidFill>
                  <a:srgbClr val="475569"/>
                </a:solidFill>
                <a:latin typeface="Segoe UI"/>
              </a:defRPr>
            </a:pPr>
            <a:r>
              <a:t>Brasileiros ja conectados</a:t>
            </a:r>
            <a:br/>
            <a:r>
              <a:t>ao Open Finance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160520"/>
            <a:ext cx="63500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4114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9E0B"/>
                </a:solidFill>
                <a:latin typeface="Segoe UI"/>
              </a:defRPr>
            </a:pPr>
            <a:r>
              <a:t>44%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7091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00"/>
              </a:lnSpc>
              <a:defRPr sz="1250" b="0">
                <a:solidFill>
                  <a:srgbClr val="475569"/>
                </a:solidFill>
                <a:latin typeface="Segoe UI"/>
              </a:defRPr>
            </a:pPr>
            <a:r>
              <a:t>dos bancarizados gerem</a:t>
            </a:r>
            <a:br/>
            <a:r>
              <a:t>financas so pelo celular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394960"/>
            <a:ext cx="63500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394960"/>
            <a:ext cx="4114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B5CF6"/>
                </a:solidFill>
                <a:latin typeface="Segoe UI"/>
              </a:defRPr>
            </a:pPr>
            <a:r>
              <a:t>213 milhoes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9436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00"/>
              </a:lnSpc>
              <a:defRPr sz="1250" b="0">
                <a:solidFill>
                  <a:srgbClr val="475569"/>
                </a:solidFill>
                <a:latin typeface="Segoe UI"/>
              </a:defRPr>
            </a:pPr>
            <a:r>
              <a:t>de brasileiros — mercado</a:t>
            </a:r>
            <a:br/>
            <a:r>
              <a:t>enderecavel domestico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1508760"/>
            <a:ext cx="5486400" cy="51206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87451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D399"/>
                </a:solidFill>
                <a:latin typeface="Segoe UI"/>
              </a:defRPr>
            </a:pPr>
            <a:r>
              <a:t>FinApp preenche as lacunas: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1460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✓  </a:t>
            </a:r>
            <a:r>
              <a:rPr sz="1200">
                <a:solidFill>
                  <a:srgbClr val="FFFFFF"/>
                </a:solidFill>
                <a:latin typeface="Segoe UI"/>
              </a:rPr>
              <a:t>Gratuito e completo — sem paywall em funcionalidades essenciais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✓  </a:t>
            </a:r>
            <a:r>
              <a:rPr sz="1200">
                <a:solidFill>
                  <a:srgbClr val="FFFFFF"/>
                </a:solidFill>
                <a:latin typeface="Segoe UI"/>
              </a:rPr>
              <a:t>IA integrada no app — nao em canal separado (WhatsApp)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✓  </a:t>
            </a:r>
            <a:r>
              <a:rPr sz="1200">
                <a:solidFill>
                  <a:srgbClr val="FFFFFF"/>
                </a:solidFill>
                <a:latin typeface="Segoe UI"/>
              </a:rPr>
              <a:t>Importacao OFX, CSV e PDF com IA — 3 formatos num so lugar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✓  </a:t>
            </a:r>
            <a:r>
              <a:rPr sz="1200">
                <a:solidFill>
                  <a:srgbClr val="FFFFFF"/>
                </a:solidFill>
                <a:latin typeface="Segoe UI"/>
              </a:rPr>
              <a:t>Metas e Dividas integrados — ausentes em todos os concorrentes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✓  </a:t>
            </a:r>
            <a:r>
              <a:rPr sz="1200">
                <a:solidFill>
                  <a:srgbClr val="FFFFFF"/>
                </a:solidFill>
                <a:latin typeface="Segoe UI"/>
              </a:rPr>
              <a:t>4 Simuladores educacionais — nao encontrado em nenhum rival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✓  </a:t>
            </a:r>
            <a:r>
              <a:rPr sz="1200">
                <a:solidFill>
                  <a:srgbClr val="FFFFFF"/>
                </a:solidFill>
                <a:latin typeface="Segoe UI"/>
              </a:rPr>
              <a:t>KPIs, tetos e alertas — orcamento ativo, nao passivo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✓  </a:t>
            </a:r>
            <a:r>
              <a:rPr sz="1200">
                <a:solidFill>
                  <a:srgbClr val="FFFFFF"/>
                </a:solidFill>
                <a:latin typeface="Segoe UI"/>
              </a:rPr>
              <a:t>Investimentos na mesma plataforma — sem app adicional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✓  </a:t>
            </a:r>
            <a:r>
              <a:rPr sz="1200">
                <a:solidFill>
                  <a:srgbClr val="FFFFFF"/>
                </a:solidFill>
                <a:latin typeface="Segoe UI"/>
              </a:rPr>
              <a:t>Fechamento mensal e historico — memoria financeira real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966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01200" y="-457200"/>
            <a:ext cx="2743200" cy="2743200"/>
          </a:xfrm>
          <a:prstGeom prst="ellipse">
            <a:avLst/>
          </a:prstGeom>
          <a:solidFill>
            <a:srgbClr val="047D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5029200"/>
            <a:ext cx="2286000" cy="2286000"/>
          </a:xfrm>
          <a:prstGeom prst="ellipse">
            <a:avLst/>
          </a:prstGeom>
          <a:solidFill>
            <a:srgbClr val="047D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D1FAE5"/>
                </a:solidFill>
                <a:latin typeface="Segoe UI"/>
              </a:defRPr>
            </a:pPr>
            <a:r>
              <a:t>POR QUE FINAPP?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Tres razoes que fazem a diferenca.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3383280" cy="3657600"/>
          </a:xfrm>
          <a:prstGeom prst="roundRect">
            <a:avLst/>
          </a:prstGeom>
          <a:solidFill>
            <a:srgbClr val="047D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" y="2514600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1460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172A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6192" y="248716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Completo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3090672"/>
            <a:ext cx="82296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291840"/>
            <a:ext cx="2880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250" b="0">
                <a:solidFill>
                  <a:srgbClr val="D1FAE5"/>
                </a:solidFill>
                <a:latin typeface="Segoe UI"/>
              </a:defRPr>
            </a:pPr>
            <a:r>
              <a:t>12 modulos integrados:</a:t>
            </a:r>
            <a:br/>
            <a:r>
              <a:t>Contas, Transacoes, Recorrentes,</a:t>
            </a:r>
            <a:br/>
            <a:r>
              <a:t>Metas, Dividas, Investimentos,</a:t>
            </a:r>
            <a:br/>
            <a:r>
              <a:t>Fluxo, Historico, Simuladores,</a:t>
            </a:r>
            <a:br/>
            <a:r>
              <a:t>Assistente IA, Importacao e Dashboard.</a:t>
            </a:r>
            <a:br/>
            <a:br/>
            <a:r>
              <a:t>Uma plataforma. Sem fragmentacao.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26280" y="2286000"/>
            <a:ext cx="3383280" cy="3657600"/>
          </a:xfrm>
          <a:prstGeom prst="roundRect">
            <a:avLst/>
          </a:prstGeom>
          <a:solidFill>
            <a:srgbClr val="047D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00600" y="2514600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251460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172A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0952" y="248716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Inteligente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00600" y="3090672"/>
            <a:ext cx="82296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3291840"/>
            <a:ext cx="2880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250" b="0">
                <a:solidFill>
                  <a:srgbClr val="D1FAE5"/>
                </a:solidFill>
                <a:latin typeface="Segoe UI"/>
              </a:defRPr>
            </a:pPr>
            <a:r>
              <a:t>Assistente IA com seus dados reais.</a:t>
            </a:r>
            <a:br/>
            <a:r>
              <a:t>5 KPIs com alertas automaticos.</a:t>
            </a:r>
            <a:br/>
            <a:r>
              <a:t>Tetos de orcamento por categoria.</a:t>
            </a:r>
            <a:br/>
            <a:r>
              <a:t>Deteccao de recorrencias.</a:t>
            </a:r>
            <a:br/>
            <a:r>
              <a:t>Fechamento mensal guiado.</a:t>
            </a:r>
            <a:br/>
            <a:r>
              <a:t>Retorno real descontando inflacao.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2286000"/>
            <a:ext cx="3383280" cy="3657600"/>
          </a:xfrm>
          <a:prstGeom prst="roundRect">
            <a:avLst/>
          </a:prstGeom>
          <a:solidFill>
            <a:srgbClr val="047D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95360" y="2514600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0" y="251460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172A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25712" y="248716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Acessivel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0" y="3090672"/>
            <a:ext cx="82296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0" y="3291840"/>
            <a:ext cx="2880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250" b="0">
                <a:solidFill>
                  <a:srgbClr val="D1FAE5"/>
                </a:solidFill>
                <a:latin typeface="Segoe UI"/>
              </a:defRPr>
            </a:pPr>
            <a:r>
              <a:t>Interface moderna e intuitiva.</a:t>
            </a:r>
            <a:br/>
            <a:r>
              <a:t>Dark mode nativo.</a:t>
            </a:r>
            <a:br/>
            <a:r>
              <a:t>Web + celular — sem instalar nada.</a:t>
            </a:r>
            <a:br/>
            <a:br/>
            <a:r>
              <a:t>Gratuito.</a:t>
            </a:r>
            <a:br/>
            <a:r>
              <a:t>Sem paywall. Sem restricoes.</a:t>
            </a:r>
            <a:br/>
            <a:r>
              <a:t>Funcionalidades que custam</a:t>
            </a:r>
            <a:br/>
            <a:r>
              <a:t>R$ 35/mes em outros apps.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2286000"/>
            <a:ext cx="5486400" cy="54864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-457200"/>
            <a:ext cx="2286000" cy="22860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6200"/>
              </a:lnSpc>
              <a:defRPr sz="4800" b="1">
                <a:solidFill>
                  <a:srgbClr val="FFFFFF"/>
                </a:solidFill>
                <a:latin typeface="Segoe UI"/>
              </a:defRPr>
            </a:pPr>
            <a:r>
              <a:t>Assuma o controle</a:t>
            </a:r>
            <a:br/>
            <a:r>
              <a:t>das suas financas.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4D399"/>
                </a:solidFill>
                <a:latin typeface="Segoe UI"/>
              </a:defRPr>
            </a:pPr>
            <a:r>
              <a:t>Comece hoje. E gratuito. Sem paywall. Sem complicacao.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3192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Segoe UI"/>
              </a:rPr>
              <a:t>✓  </a:t>
            </a:r>
            <a:r>
              <a:rPr sz="1500">
                <a:solidFill>
                  <a:srgbClr val="CBD5E1"/>
                </a:solidFill>
                <a:latin typeface="Segoe UI"/>
              </a:rPr>
              <a:t>12 modulos integrados — tudo o que voce precisa, em um lugar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Segoe UI"/>
              </a:rPr>
              <a:t>✓  </a:t>
            </a:r>
            <a:r>
              <a:rPr sz="1500">
                <a:solidFill>
                  <a:srgbClr val="CBD5E1"/>
                </a:solidFill>
                <a:latin typeface="Segoe UI"/>
              </a:rPr>
              <a:t>Assistente IA com seus dados reais — respostas de verdade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Segoe UI"/>
              </a:rPr>
              <a:t>✓  </a:t>
            </a:r>
            <a:r>
              <a:rPr sz="1500">
                <a:solidFill>
                  <a:srgbClr val="CBD5E1"/>
                </a:solidFill>
                <a:latin typeface="Segoe UI"/>
              </a:rPr>
              <a:t>Gratuito — funcionalidades que custam R$ 35/mes nos concorrentes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394960"/>
            <a:ext cx="3474720" cy="713232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347472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Segoe UI"/>
              </a:defRPr>
            </a:pPr>
            <a:r>
              <a:t>Conheca o FinApp  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446520"/>
            <a:ext cx="137160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Segoe UI"/>
              </a:defRPr>
            </a:pPr>
            <a:r>
              <a:t>FinApp  |  Gestao Financeira Pessoal  |  Marco 2026  |  finapp-kohl.vercel.app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